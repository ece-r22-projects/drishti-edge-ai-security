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6" r:id="rId3"/>
    <p:sldId id="257" r:id="rId4"/>
    <p:sldId id="258" r:id="rId5"/>
    <p:sldId id="259" r:id="rId6"/>
    <p:sldId id="260" r:id="rId7"/>
    <p:sldId id="261" r:id="rId8"/>
    <p:sldId id="262" r:id="rId9"/>
    <p:sldId id="267" r:id="rId10"/>
    <p:sldId id="263" r:id="rId11"/>
    <p:sldId id="268" r:id="rId12"/>
    <p:sldId id="264" r:id="rId13"/>
    <p:sldId id="265" r:id="rId14"/>
  </p:sldIdLst>
  <p:sldSz cx="12192000" cy="6858000"/>
  <p:notesSz cx="6858000" cy="12192000"/>
  <p:embeddedFontLst>
    <p:embeddedFont>
      <p:font typeface="Alexandria Medium" panose="020B0604020202020204" charset="-78"/>
      <p:regular r:id="rId16"/>
    </p:embeddedFont>
    <p:embeddedFont>
      <p:font typeface="Bookman Old Style" panose="02050604050505020204" pitchFamily="18" charset="0"/>
      <p:regular r:id="rId17"/>
      <p:bold r:id="rId18"/>
      <p:italic r:id="rId19"/>
      <p:boldItalic r:id="rId20"/>
    </p:embeddedFont>
    <p:embeddedFont>
      <p:font typeface="Manrope" panose="020B0604020202020204" charset="0"/>
      <p:regular r:id="rId21"/>
    </p:embeddedFont>
    <p:embeddedFont>
      <p:font typeface="Manrope 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0624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1828-5160-D915-F7BE-4FD8CCBBC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5AC35-D726-CC9C-DF3A-FD5B6B15D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16AB8-E34E-E8C7-A7E7-2FB232E663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B8600D-E361-B1AE-3351-4A992BF758C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60438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C9C02-C910-9948-2DE9-2A1452C63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2C33C-885C-4383-0FCC-94A74D250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0EAF3-61E9-55E2-4D74-9D3DB50EB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29CF3-9461-27D4-DDF7-2E3FAD380B7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3822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447304"/>
            <a:ext cx="6296860" cy="236259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5B6E8C"/>
                </a:solidFill>
                <a:latin typeface="Alexandria Medium" pitchFamily="34" charset="0"/>
                <a:ea typeface="Alexandria Medium" pitchFamily="34" charset="-122"/>
                <a:cs typeface="Alexandria Medium" pitchFamily="34" charset="-120"/>
              </a:rPr>
              <a:t>AI-Powered Real-Time Object Detection &amp; Intelligent Surveillance System</a:t>
            </a:r>
            <a:endParaRPr lang="en-US" sz="3700" dirty="0"/>
          </a:p>
        </p:txBody>
      </p:sp>
      <p:sp>
        <p:nvSpPr>
          <p:cNvPr id="4" name="Text 1"/>
          <p:cNvSpPr/>
          <p:nvPr/>
        </p:nvSpPr>
        <p:spPr>
          <a:xfrm>
            <a:off x="661475" y="4093369"/>
            <a:ext cx="6296860" cy="817463"/>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5B6E8C"/>
                </a:solidFill>
                <a:latin typeface="Manrope Bold" pitchFamily="34" charset="0"/>
                <a:ea typeface="Manrope Bold" pitchFamily="34" charset="-122"/>
                <a:cs typeface="Manrope Bold" pitchFamily="34" charset="-120"/>
              </a:rPr>
              <a:t>Department of Electronics &amp; Communication Engineering</a:t>
            </a:r>
            <a:r>
              <a:rPr lang="en-US" sz="1450" dirty="0">
                <a:solidFill>
                  <a:srgbClr val="5B6E8C"/>
                </a:solidFill>
                <a:latin typeface="Manrope" pitchFamily="34" charset="0"/>
                <a:ea typeface="Manrope" pitchFamily="34" charset="-122"/>
                <a:cs typeface="Manrope" pitchFamily="34" charset="-120"/>
              </a:rPr>
              <a:t> · B.Tech </a:t>
            </a:r>
            <a:endParaRPr lang="en-US" sz="1450" dirty="0"/>
          </a:p>
        </p:txBody>
      </p:sp>
      <p:sp>
        <p:nvSpPr>
          <p:cNvPr id="5" name="Shape 2"/>
          <p:cNvSpPr/>
          <p:nvPr/>
        </p:nvSpPr>
        <p:spPr>
          <a:xfrm>
            <a:off x="661475" y="5123458"/>
            <a:ext cx="1040084" cy="287139"/>
          </a:xfrm>
          <a:prstGeom prst="roundRect">
            <a:avLst>
              <a:gd name="adj" fmla="val 49999"/>
            </a:avLst>
          </a:prstGeom>
          <a:solidFill>
            <a:srgbClr val="CDEFFE"/>
          </a:solidFill>
          <a:ln/>
        </p:spPr>
      </p:sp>
      <p:pic>
        <p:nvPicPr>
          <p:cNvPr id="6" name="Image 1" descr="preencoded.png"/>
          <p:cNvPicPr>
            <a:picLocks noChangeAspect="1"/>
          </p:cNvPicPr>
          <p:nvPr/>
        </p:nvPicPr>
        <p:blipFill>
          <a:blip r:embed="rId4"/>
          <a:stretch>
            <a:fillRect/>
          </a:stretch>
        </p:blipFill>
        <p:spPr>
          <a:xfrm>
            <a:off x="774879" y="5191423"/>
            <a:ext cx="151206" cy="151209"/>
          </a:xfrm>
          <a:prstGeom prst="rect">
            <a:avLst/>
          </a:prstGeom>
        </p:spPr>
      </p:pic>
      <p:sp>
        <p:nvSpPr>
          <p:cNvPr id="7" name="Text 3"/>
          <p:cNvSpPr/>
          <p:nvPr/>
        </p:nvSpPr>
        <p:spPr>
          <a:xfrm>
            <a:off x="1001687" y="5180112"/>
            <a:ext cx="1196052" cy="173831"/>
          </a:xfrm>
          <a:prstGeom prst="rect">
            <a:avLst/>
          </a:prstGeom>
          <a:noFill/>
          <a:ln/>
        </p:spPr>
        <p:txBody>
          <a:bodyPr wrap="none" lIns="0" tIns="0" rIns="0" bIns="0" rtlCol="0" anchor="t"/>
          <a:lstStyle/>
          <a:p>
            <a:pPr marL="0" indent="0" algn="l">
              <a:lnSpc>
                <a:spcPct val="96000"/>
              </a:lnSpc>
              <a:buNone/>
            </a:pPr>
            <a:r>
              <a:rPr lang="en-US" sz="1150" dirty="0">
                <a:solidFill>
                  <a:srgbClr val="5B6E8C"/>
                </a:solidFill>
                <a:latin typeface="Manrope" pitchFamily="34" charset="0"/>
                <a:ea typeface="Manrope" pitchFamily="34" charset="-122"/>
                <a:cs typeface="Manrope" pitchFamily="34" charset="-120"/>
              </a:rPr>
              <a:t>OPENCV</a:t>
            </a:r>
            <a:endParaRPr lang="en-US" sz="1150" dirty="0"/>
          </a:p>
        </p:txBody>
      </p:sp>
      <p:sp>
        <p:nvSpPr>
          <p:cNvPr id="8" name="Shape 4"/>
          <p:cNvSpPr/>
          <p:nvPr/>
        </p:nvSpPr>
        <p:spPr>
          <a:xfrm>
            <a:off x="1796013" y="5123458"/>
            <a:ext cx="998810" cy="287139"/>
          </a:xfrm>
          <a:prstGeom prst="roundRect">
            <a:avLst>
              <a:gd name="adj" fmla="val 49999"/>
            </a:avLst>
          </a:prstGeom>
          <a:solidFill>
            <a:srgbClr val="CDEFFE"/>
          </a:solidFill>
          <a:ln/>
        </p:spPr>
      </p:sp>
      <p:pic>
        <p:nvPicPr>
          <p:cNvPr id="9" name="Image 2" descr="preencoded.png"/>
          <p:cNvPicPr>
            <a:picLocks noChangeAspect="1"/>
          </p:cNvPicPr>
          <p:nvPr/>
        </p:nvPicPr>
        <p:blipFill>
          <a:blip r:embed="rId5"/>
          <a:stretch>
            <a:fillRect/>
          </a:stretch>
        </p:blipFill>
        <p:spPr>
          <a:xfrm>
            <a:off x="1909417" y="5191423"/>
            <a:ext cx="151206" cy="151209"/>
          </a:xfrm>
          <a:prstGeom prst="rect">
            <a:avLst/>
          </a:prstGeom>
        </p:spPr>
      </p:pic>
      <p:sp>
        <p:nvSpPr>
          <p:cNvPr id="10" name="Text 5"/>
          <p:cNvSpPr/>
          <p:nvPr/>
        </p:nvSpPr>
        <p:spPr>
          <a:xfrm>
            <a:off x="2136225" y="5180112"/>
            <a:ext cx="1154778" cy="173831"/>
          </a:xfrm>
          <a:prstGeom prst="rect">
            <a:avLst/>
          </a:prstGeom>
          <a:noFill/>
          <a:ln/>
        </p:spPr>
        <p:txBody>
          <a:bodyPr wrap="none" lIns="0" tIns="0" rIns="0" bIns="0" rtlCol="0" anchor="t"/>
          <a:lstStyle/>
          <a:p>
            <a:pPr marL="0" indent="0" algn="l">
              <a:lnSpc>
                <a:spcPct val="96000"/>
              </a:lnSpc>
              <a:buNone/>
            </a:pPr>
            <a:r>
              <a:rPr lang="en-US" sz="1150" dirty="0">
                <a:solidFill>
                  <a:srgbClr val="5B6E8C"/>
                </a:solidFill>
                <a:latin typeface="Manrope" pitchFamily="34" charset="0"/>
                <a:ea typeface="Manrope" pitchFamily="34" charset="-122"/>
                <a:cs typeface="Manrope" pitchFamily="34" charset="-120"/>
              </a:rPr>
              <a:t>YOLOV8</a:t>
            </a:r>
            <a:endParaRPr lang="en-US" sz="1150" dirty="0"/>
          </a:p>
        </p:txBody>
      </p:sp>
      <p:sp>
        <p:nvSpPr>
          <p:cNvPr id="11" name="Shape 6"/>
          <p:cNvSpPr/>
          <p:nvPr/>
        </p:nvSpPr>
        <p:spPr>
          <a:xfrm>
            <a:off x="2889277" y="5123458"/>
            <a:ext cx="685386" cy="287139"/>
          </a:xfrm>
          <a:prstGeom prst="roundRect">
            <a:avLst>
              <a:gd name="adj" fmla="val 49999"/>
            </a:avLst>
          </a:prstGeom>
          <a:solidFill>
            <a:srgbClr val="CDEFFE"/>
          </a:solidFill>
          <a:ln/>
        </p:spPr>
      </p:sp>
      <p:pic>
        <p:nvPicPr>
          <p:cNvPr id="12" name="Image 3" descr="preencoded.png"/>
          <p:cNvPicPr>
            <a:picLocks noChangeAspect="1"/>
          </p:cNvPicPr>
          <p:nvPr/>
        </p:nvPicPr>
        <p:blipFill>
          <a:blip r:embed="rId6"/>
          <a:stretch>
            <a:fillRect/>
          </a:stretch>
        </p:blipFill>
        <p:spPr>
          <a:xfrm>
            <a:off x="3002681" y="5191423"/>
            <a:ext cx="151206" cy="151209"/>
          </a:xfrm>
          <a:prstGeom prst="rect">
            <a:avLst/>
          </a:prstGeom>
        </p:spPr>
      </p:pic>
      <p:sp>
        <p:nvSpPr>
          <p:cNvPr id="13" name="Text 7"/>
          <p:cNvSpPr/>
          <p:nvPr/>
        </p:nvSpPr>
        <p:spPr>
          <a:xfrm>
            <a:off x="3229490" y="5180112"/>
            <a:ext cx="841354" cy="173831"/>
          </a:xfrm>
          <a:prstGeom prst="rect">
            <a:avLst/>
          </a:prstGeom>
          <a:noFill/>
          <a:ln/>
        </p:spPr>
        <p:txBody>
          <a:bodyPr wrap="none" lIns="0" tIns="0" rIns="0" bIns="0" rtlCol="0" anchor="t"/>
          <a:lstStyle/>
          <a:p>
            <a:pPr marL="0" indent="0" algn="l">
              <a:lnSpc>
                <a:spcPct val="96000"/>
              </a:lnSpc>
              <a:buNone/>
            </a:pPr>
            <a:r>
              <a:rPr lang="en-US" sz="1150" dirty="0">
                <a:solidFill>
                  <a:srgbClr val="5B6E8C"/>
                </a:solidFill>
                <a:latin typeface="Manrope" pitchFamily="34" charset="0"/>
                <a:ea typeface="Manrope" pitchFamily="34" charset="-122"/>
                <a:cs typeface="Manrope" pitchFamily="34" charset="-120"/>
              </a:rPr>
              <a:t>IOT</a:t>
            </a:r>
            <a:endParaRPr lang="en-US" sz="1150" dirty="0"/>
          </a:p>
        </p:txBody>
      </p:sp>
      <p:sp>
        <p:nvSpPr>
          <p:cNvPr id="14" name="Shape 8"/>
          <p:cNvSpPr/>
          <p:nvPr/>
        </p:nvSpPr>
        <p:spPr>
          <a:xfrm>
            <a:off x="3669117" y="5123458"/>
            <a:ext cx="995139" cy="287139"/>
          </a:xfrm>
          <a:prstGeom prst="roundRect">
            <a:avLst>
              <a:gd name="adj" fmla="val 49999"/>
            </a:avLst>
          </a:prstGeom>
          <a:solidFill>
            <a:srgbClr val="CDEFFE"/>
          </a:solidFill>
          <a:ln/>
        </p:spPr>
      </p:sp>
      <p:pic>
        <p:nvPicPr>
          <p:cNvPr id="15" name="Image 4" descr="preencoded.png"/>
          <p:cNvPicPr>
            <a:picLocks noChangeAspect="1"/>
          </p:cNvPicPr>
          <p:nvPr/>
        </p:nvPicPr>
        <p:blipFill>
          <a:blip r:embed="rId7"/>
          <a:stretch>
            <a:fillRect/>
          </a:stretch>
        </p:blipFill>
        <p:spPr>
          <a:xfrm>
            <a:off x="3782521" y="5191423"/>
            <a:ext cx="151206" cy="151209"/>
          </a:xfrm>
          <a:prstGeom prst="rect">
            <a:avLst/>
          </a:prstGeom>
        </p:spPr>
      </p:pic>
      <p:sp>
        <p:nvSpPr>
          <p:cNvPr id="16" name="Text 9"/>
          <p:cNvSpPr/>
          <p:nvPr/>
        </p:nvSpPr>
        <p:spPr>
          <a:xfrm>
            <a:off x="4009329" y="5180112"/>
            <a:ext cx="1151107" cy="173831"/>
          </a:xfrm>
          <a:prstGeom prst="rect">
            <a:avLst/>
          </a:prstGeom>
          <a:noFill/>
          <a:ln/>
        </p:spPr>
        <p:txBody>
          <a:bodyPr wrap="none" lIns="0" tIns="0" rIns="0" bIns="0" rtlCol="0" anchor="t"/>
          <a:lstStyle/>
          <a:p>
            <a:pPr marL="0" indent="0" algn="l">
              <a:lnSpc>
                <a:spcPct val="96000"/>
              </a:lnSpc>
              <a:buNone/>
            </a:pPr>
            <a:r>
              <a:rPr lang="en-US" sz="1150" dirty="0">
                <a:solidFill>
                  <a:srgbClr val="5B6E8C"/>
                </a:solidFill>
                <a:latin typeface="Manrope" pitchFamily="34" charset="0"/>
                <a:ea typeface="Manrope" pitchFamily="34" charset="-122"/>
                <a:cs typeface="Manrope" pitchFamily="34" charset="-120"/>
              </a:rPr>
              <a:t>EDGE AI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21BAE21A-EB45-6521-7EEA-613C2EC8A240}"/>
              </a:ext>
            </a:extLst>
          </p:cNvPr>
          <p:cNvSpPr/>
          <p:nvPr/>
        </p:nvSpPr>
        <p:spPr>
          <a:xfrm>
            <a:off x="485924" y="977985"/>
            <a:ext cx="4163714" cy="1911863"/>
          </a:xfrm>
          <a:prstGeom prst="roundRect">
            <a:avLst>
              <a:gd name="adj" fmla="val 26952"/>
            </a:avLst>
          </a:prstGeom>
          <a:solidFill>
            <a:srgbClr val="E6F7FF"/>
          </a:solidFill>
          <a:ln w="6350">
            <a:solidFill>
              <a:srgbClr val="B3D5E4"/>
            </a:solidFill>
            <a:prstDash val="solid"/>
          </a:ln>
        </p:spPr>
      </p:sp>
      <p:sp>
        <p:nvSpPr>
          <p:cNvPr id="6" name="TextBox 5">
            <a:extLst>
              <a:ext uri="{FF2B5EF4-FFF2-40B4-BE49-F238E27FC236}">
                <a16:creationId xmlns:a16="http://schemas.microsoft.com/office/drawing/2014/main" id="{723D0929-2E03-3504-34AB-33432324621E}"/>
              </a:ext>
            </a:extLst>
          </p:cNvPr>
          <p:cNvSpPr txBox="1"/>
          <p:nvPr/>
        </p:nvSpPr>
        <p:spPr>
          <a:xfrm>
            <a:off x="698740" y="1190445"/>
            <a:ext cx="3735237" cy="1569660"/>
          </a:xfrm>
          <a:prstGeom prst="rect">
            <a:avLst/>
          </a:prstGeom>
          <a:noFill/>
        </p:spPr>
        <p:txBody>
          <a:bodyPr wrap="square" rtlCol="0">
            <a:spAutoFit/>
          </a:bodyPr>
          <a:lstStyle/>
          <a:p>
            <a:r>
              <a:rPr lang="en-US" sz="2400" u="sng" dirty="0"/>
              <a:t>Project Guide: </a:t>
            </a:r>
            <a:r>
              <a:rPr lang="en-US" sz="2400" dirty="0"/>
              <a:t>MR.M.CHEENYA</a:t>
            </a:r>
          </a:p>
          <a:p>
            <a:r>
              <a:rPr lang="en-US" sz="2400" dirty="0"/>
              <a:t>(ASSISTANT PROFESSOR)</a:t>
            </a:r>
          </a:p>
          <a:p>
            <a:endParaRPr lang="en-US" sz="2400" dirty="0"/>
          </a:p>
        </p:txBody>
      </p:sp>
      <p:sp>
        <p:nvSpPr>
          <p:cNvPr id="8" name="Shape 2">
            <a:extLst>
              <a:ext uri="{FF2B5EF4-FFF2-40B4-BE49-F238E27FC236}">
                <a16:creationId xmlns:a16="http://schemas.microsoft.com/office/drawing/2014/main" id="{B33BF6B4-A06E-7763-8E1E-9E7E9024D075}"/>
              </a:ext>
            </a:extLst>
          </p:cNvPr>
          <p:cNvSpPr/>
          <p:nvPr/>
        </p:nvSpPr>
        <p:spPr>
          <a:xfrm>
            <a:off x="6625056" y="3657924"/>
            <a:ext cx="4727306" cy="2941283"/>
          </a:xfrm>
          <a:prstGeom prst="roundRect">
            <a:avLst>
              <a:gd name="adj" fmla="val 26952"/>
            </a:avLst>
          </a:prstGeom>
          <a:solidFill>
            <a:srgbClr val="E6F7FF"/>
          </a:solidFill>
          <a:ln w="6350">
            <a:solidFill>
              <a:srgbClr val="B3D5E4"/>
            </a:solidFill>
            <a:prstDash val="solid"/>
          </a:ln>
        </p:spPr>
      </p:sp>
      <p:sp>
        <p:nvSpPr>
          <p:cNvPr id="9" name="TextBox 8">
            <a:extLst>
              <a:ext uri="{FF2B5EF4-FFF2-40B4-BE49-F238E27FC236}">
                <a16:creationId xmlns:a16="http://schemas.microsoft.com/office/drawing/2014/main" id="{D75D98C8-94A4-3013-0234-763B95DBC9E2}"/>
              </a:ext>
            </a:extLst>
          </p:cNvPr>
          <p:cNvSpPr txBox="1"/>
          <p:nvPr/>
        </p:nvSpPr>
        <p:spPr>
          <a:xfrm>
            <a:off x="7233233" y="3795622"/>
            <a:ext cx="3769744" cy="3788858"/>
          </a:xfrm>
          <a:prstGeom prst="rect">
            <a:avLst/>
          </a:prstGeom>
          <a:noFill/>
        </p:spPr>
        <p:txBody>
          <a:bodyPr wrap="square" rtlCol="0">
            <a:spAutoFit/>
          </a:bodyPr>
          <a:lstStyle/>
          <a:p>
            <a:pPr>
              <a:lnSpc>
                <a:spcPct val="150000"/>
              </a:lnSpc>
            </a:pPr>
            <a:r>
              <a:rPr lang="en-US" u="sng" dirty="0"/>
              <a:t>TEAM MEMEBERS:</a:t>
            </a:r>
          </a:p>
          <a:p>
            <a:pPr>
              <a:lnSpc>
                <a:spcPct val="150000"/>
              </a:lnSpc>
            </a:pPr>
            <a:r>
              <a:rPr lang="en-US" dirty="0">
                <a:latin typeface="Bookman Old Style" panose="02050604050505020204" pitchFamily="18" charset="0"/>
              </a:rPr>
              <a:t>Gaurav Sai. V (24P81A0462)</a:t>
            </a:r>
          </a:p>
          <a:p>
            <a:pPr>
              <a:lnSpc>
                <a:spcPct val="150000"/>
              </a:lnSpc>
            </a:pPr>
            <a:r>
              <a:rPr lang="en-US" dirty="0">
                <a:latin typeface="Bookman Old Style" panose="02050604050505020204" pitchFamily="18" charset="0"/>
              </a:rPr>
              <a:t>Anand. T (24P81A0456)</a:t>
            </a:r>
          </a:p>
          <a:p>
            <a:pPr>
              <a:lnSpc>
                <a:spcPct val="150000"/>
              </a:lnSpc>
            </a:pPr>
            <a:r>
              <a:rPr lang="en-US" dirty="0">
                <a:latin typeface="Bookman Old Style" panose="02050604050505020204" pitchFamily="18" charset="0"/>
              </a:rPr>
              <a:t>Gnaneshwar. S (24P81A0452)</a:t>
            </a:r>
          </a:p>
          <a:p>
            <a:pPr>
              <a:lnSpc>
                <a:spcPct val="150000"/>
              </a:lnSpc>
            </a:pPr>
            <a:r>
              <a:rPr lang="en-US" dirty="0">
                <a:latin typeface="Bookman Old Style" panose="02050604050505020204" pitchFamily="18" charset="0"/>
              </a:rPr>
              <a:t>Chanti. V (24P81A0458)</a:t>
            </a:r>
          </a:p>
          <a:p>
            <a:pPr>
              <a:lnSpc>
                <a:spcPct val="150000"/>
              </a:lnSpc>
            </a:pPr>
            <a:r>
              <a:rPr lang="en-US" dirty="0">
                <a:latin typeface="Bookman Old Style" panose="02050604050505020204" pitchFamily="18" charset="0"/>
              </a:rPr>
              <a:t>Bhavika .R (24P81A0446)</a:t>
            </a:r>
          </a:p>
          <a:p>
            <a:pPr>
              <a:lnSpc>
                <a:spcPct val="150000"/>
              </a:lnSpc>
            </a:pPr>
            <a:endParaRPr lang="en-US" dirty="0">
              <a:latin typeface="Bookman Old Style" panose="02050604050505020204" pitchFamily="18" charset="0"/>
            </a:endParaRPr>
          </a:p>
          <a:p>
            <a:pPr>
              <a:lnSpc>
                <a:spcPct val="150000"/>
              </a:lnSpc>
            </a:pPr>
            <a:endParaRPr lang="en-US" dirty="0"/>
          </a:p>
          <a:p>
            <a:pPr>
              <a:lnSpc>
                <a:spcPct val="150000"/>
              </a:lnSpc>
            </a:pPr>
            <a:endParaRPr lang="en-US" u="sng" dirty="0"/>
          </a:p>
        </p:txBody>
      </p:sp>
    </p:spTree>
    <p:extLst>
      <p:ext uri="{BB962C8B-B14F-4D97-AF65-F5344CB8AC3E}">
        <p14:creationId xmlns:p14="http://schemas.microsoft.com/office/powerpoint/2010/main" val="815379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951805"/>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5B6E8C"/>
                </a:solidFill>
                <a:latin typeface="Alexandria Medium" pitchFamily="34" charset="0"/>
                <a:ea typeface="Alexandria Medium" pitchFamily="34" charset="-122"/>
                <a:cs typeface="Alexandria Medium" pitchFamily="34" charset="-120"/>
              </a:rPr>
              <a:t>Introduction</a:t>
            </a:r>
            <a:endParaRPr lang="en-US" sz="2950" dirty="0"/>
          </a:p>
        </p:txBody>
      </p:sp>
      <p:sp>
        <p:nvSpPr>
          <p:cNvPr id="4" name="Text 1"/>
          <p:cNvSpPr/>
          <p:nvPr/>
        </p:nvSpPr>
        <p:spPr>
          <a:xfrm>
            <a:off x="661475" y="1605657"/>
            <a:ext cx="6296860"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5B6E8C"/>
                </a:solidFill>
                <a:latin typeface="Manrope" pitchFamily="34" charset="0"/>
                <a:ea typeface="Manrope" pitchFamily="34" charset="-122"/>
                <a:cs typeface="Manrope" pitchFamily="34" charset="-120"/>
              </a:rPr>
              <a:t>This project sits at the intersection of four transformative technologies, enabling intelligent, autonomous surveillance at the network edge.</a:t>
            </a:r>
            <a:endParaRPr lang="en-US" sz="1150" dirty="0"/>
          </a:p>
        </p:txBody>
      </p:sp>
      <p:sp>
        <p:nvSpPr>
          <p:cNvPr id="5" name="Shape 2"/>
          <p:cNvSpPr/>
          <p:nvPr/>
        </p:nvSpPr>
        <p:spPr>
          <a:xfrm>
            <a:off x="661475" y="2177058"/>
            <a:ext cx="6296860" cy="841573"/>
          </a:xfrm>
          <a:prstGeom prst="roundRect">
            <a:avLst>
              <a:gd name="adj" fmla="val 26952"/>
            </a:avLst>
          </a:prstGeom>
          <a:solidFill>
            <a:srgbClr val="E6F7FF"/>
          </a:solidFill>
          <a:ln w="6350">
            <a:solidFill>
              <a:srgbClr val="B3D5E4"/>
            </a:solidFill>
            <a:prstDash val="solid"/>
          </a:ln>
        </p:spPr>
      </p:sp>
      <p:sp>
        <p:nvSpPr>
          <p:cNvPr id="6" name="Text 3"/>
          <p:cNvSpPr/>
          <p:nvPr/>
        </p:nvSpPr>
        <p:spPr>
          <a:xfrm>
            <a:off x="819030" y="2334617"/>
            <a:ext cx="598174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Alexandria Medium" pitchFamily="34" charset="0"/>
                <a:ea typeface="Alexandria Medium" pitchFamily="34" charset="-122"/>
                <a:cs typeface="Alexandria Medium" pitchFamily="34" charset="-120"/>
              </a:rPr>
              <a:t>Artificial Intelligence</a:t>
            </a:r>
            <a:endParaRPr lang="en-US" sz="1450" dirty="0"/>
          </a:p>
        </p:txBody>
      </p:sp>
      <p:sp>
        <p:nvSpPr>
          <p:cNvPr id="7" name="Text 4"/>
          <p:cNvSpPr/>
          <p:nvPr/>
        </p:nvSpPr>
        <p:spPr>
          <a:xfrm>
            <a:off x="819030" y="2643386"/>
            <a:ext cx="5981749" cy="217686"/>
          </a:xfrm>
          <a:prstGeom prst="rect">
            <a:avLst/>
          </a:prstGeom>
          <a:noFill/>
          <a:ln/>
        </p:spPr>
        <p:txBody>
          <a:bodyPr wrap="none" lIns="0" tIns="0" rIns="0" bIns="0" rtlCol="0" anchor="t"/>
          <a:lstStyle/>
          <a:p>
            <a:pPr marL="0" indent="0" algn="l">
              <a:lnSpc>
                <a:spcPct val="120000"/>
              </a:lnSpc>
              <a:buNone/>
            </a:pPr>
            <a:r>
              <a:rPr lang="en-US" sz="1150" dirty="0">
                <a:solidFill>
                  <a:srgbClr val="000000"/>
                </a:solidFill>
                <a:latin typeface="Manrope" pitchFamily="34" charset="0"/>
                <a:ea typeface="Manrope" pitchFamily="34" charset="-122"/>
                <a:cs typeface="Manrope" pitchFamily="34" charset="-120"/>
              </a:rPr>
              <a:t>Enables machines to perceive, learn, and make decisions from visual data.</a:t>
            </a:r>
            <a:endParaRPr lang="en-US" sz="1150" dirty="0"/>
          </a:p>
        </p:txBody>
      </p:sp>
      <p:sp>
        <p:nvSpPr>
          <p:cNvPr id="8" name="Shape 5"/>
          <p:cNvSpPr/>
          <p:nvPr/>
        </p:nvSpPr>
        <p:spPr>
          <a:xfrm>
            <a:off x="661475" y="3139579"/>
            <a:ext cx="6296860" cy="841573"/>
          </a:xfrm>
          <a:prstGeom prst="roundRect">
            <a:avLst>
              <a:gd name="adj" fmla="val 26952"/>
            </a:avLst>
          </a:prstGeom>
          <a:solidFill>
            <a:srgbClr val="E6F7FF"/>
          </a:solidFill>
          <a:ln w="6350">
            <a:solidFill>
              <a:srgbClr val="B3D5E4"/>
            </a:solidFill>
            <a:prstDash val="solid"/>
          </a:ln>
        </p:spPr>
      </p:sp>
      <p:sp>
        <p:nvSpPr>
          <p:cNvPr id="9" name="Text 6"/>
          <p:cNvSpPr/>
          <p:nvPr/>
        </p:nvSpPr>
        <p:spPr>
          <a:xfrm>
            <a:off x="819030" y="3297138"/>
            <a:ext cx="598174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Alexandria Medium" pitchFamily="34" charset="0"/>
                <a:ea typeface="Alexandria Medium" pitchFamily="34" charset="-122"/>
                <a:cs typeface="Alexandria Medium" pitchFamily="34" charset="-120"/>
              </a:rPr>
              <a:t>Computer Vision</a:t>
            </a:r>
            <a:endParaRPr lang="en-US" sz="1450" dirty="0"/>
          </a:p>
        </p:txBody>
      </p:sp>
      <p:sp>
        <p:nvSpPr>
          <p:cNvPr id="10" name="Text 7"/>
          <p:cNvSpPr/>
          <p:nvPr/>
        </p:nvSpPr>
        <p:spPr>
          <a:xfrm>
            <a:off x="819030" y="3605907"/>
            <a:ext cx="5981749" cy="217686"/>
          </a:xfrm>
          <a:prstGeom prst="rect">
            <a:avLst/>
          </a:prstGeom>
          <a:noFill/>
          <a:ln/>
        </p:spPr>
        <p:txBody>
          <a:bodyPr wrap="none" lIns="0" tIns="0" rIns="0" bIns="0" rtlCol="0" anchor="t"/>
          <a:lstStyle/>
          <a:p>
            <a:pPr marL="0" indent="0" algn="l">
              <a:lnSpc>
                <a:spcPct val="120000"/>
              </a:lnSpc>
              <a:buNone/>
            </a:pPr>
            <a:r>
              <a:rPr lang="en-US" sz="1150" dirty="0">
                <a:solidFill>
                  <a:srgbClr val="000000"/>
                </a:solidFill>
                <a:latin typeface="Manrope" pitchFamily="34" charset="0"/>
                <a:ea typeface="Manrope" pitchFamily="34" charset="-122"/>
                <a:cs typeface="Manrope" pitchFamily="34" charset="-120"/>
              </a:rPr>
              <a:t>Extracts meaningful information from images and video streams in real time.</a:t>
            </a:r>
            <a:endParaRPr lang="en-US" sz="1150" dirty="0"/>
          </a:p>
        </p:txBody>
      </p:sp>
      <p:sp>
        <p:nvSpPr>
          <p:cNvPr id="11" name="Shape 8"/>
          <p:cNvSpPr/>
          <p:nvPr/>
        </p:nvSpPr>
        <p:spPr>
          <a:xfrm>
            <a:off x="661475" y="4102100"/>
            <a:ext cx="6296860" cy="841573"/>
          </a:xfrm>
          <a:prstGeom prst="roundRect">
            <a:avLst>
              <a:gd name="adj" fmla="val 26952"/>
            </a:avLst>
          </a:prstGeom>
          <a:solidFill>
            <a:srgbClr val="E6F7FF"/>
          </a:solidFill>
          <a:ln w="6350">
            <a:solidFill>
              <a:srgbClr val="B3D5E4"/>
            </a:solidFill>
            <a:prstDash val="solid"/>
          </a:ln>
        </p:spPr>
      </p:sp>
      <p:sp>
        <p:nvSpPr>
          <p:cNvPr id="12" name="Text 9"/>
          <p:cNvSpPr/>
          <p:nvPr/>
        </p:nvSpPr>
        <p:spPr>
          <a:xfrm>
            <a:off x="819030" y="4259659"/>
            <a:ext cx="598174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Alexandria Medium" pitchFamily="34" charset="0"/>
                <a:ea typeface="Alexandria Medium" pitchFamily="34" charset="-122"/>
                <a:cs typeface="Alexandria Medium" pitchFamily="34" charset="-120"/>
              </a:rPr>
              <a:t>Internet of Things</a:t>
            </a:r>
            <a:endParaRPr lang="en-US" sz="1450" dirty="0"/>
          </a:p>
        </p:txBody>
      </p:sp>
      <p:sp>
        <p:nvSpPr>
          <p:cNvPr id="13" name="Text 10"/>
          <p:cNvSpPr/>
          <p:nvPr/>
        </p:nvSpPr>
        <p:spPr>
          <a:xfrm>
            <a:off x="819030" y="4568428"/>
            <a:ext cx="5981749" cy="217686"/>
          </a:xfrm>
          <a:prstGeom prst="rect">
            <a:avLst/>
          </a:prstGeom>
          <a:noFill/>
          <a:ln/>
        </p:spPr>
        <p:txBody>
          <a:bodyPr wrap="none" lIns="0" tIns="0" rIns="0" bIns="0" rtlCol="0" anchor="t"/>
          <a:lstStyle/>
          <a:p>
            <a:pPr marL="0" indent="0" algn="l">
              <a:lnSpc>
                <a:spcPct val="120000"/>
              </a:lnSpc>
              <a:buNone/>
            </a:pPr>
            <a:r>
              <a:rPr lang="en-US" sz="1150" dirty="0">
                <a:solidFill>
                  <a:srgbClr val="000000"/>
                </a:solidFill>
                <a:latin typeface="Manrope" pitchFamily="34" charset="0"/>
                <a:ea typeface="Manrope" pitchFamily="34" charset="-122"/>
                <a:cs typeface="Manrope" pitchFamily="34" charset="-120"/>
              </a:rPr>
              <a:t>Connects physical devices to cloud platforms for remote monitoring and control.</a:t>
            </a:r>
            <a:endParaRPr lang="en-US" sz="1150" dirty="0"/>
          </a:p>
        </p:txBody>
      </p:sp>
      <p:sp>
        <p:nvSpPr>
          <p:cNvPr id="14" name="Shape 11"/>
          <p:cNvSpPr/>
          <p:nvPr/>
        </p:nvSpPr>
        <p:spPr>
          <a:xfrm>
            <a:off x="661475" y="5064621"/>
            <a:ext cx="6296860" cy="841573"/>
          </a:xfrm>
          <a:prstGeom prst="roundRect">
            <a:avLst>
              <a:gd name="adj" fmla="val 26952"/>
            </a:avLst>
          </a:prstGeom>
          <a:solidFill>
            <a:srgbClr val="E6F7FF"/>
          </a:solidFill>
          <a:ln w="6350">
            <a:solidFill>
              <a:srgbClr val="B3D5E4"/>
            </a:solidFill>
            <a:prstDash val="solid"/>
          </a:ln>
        </p:spPr>
      </p:sp>
      <p:sp>
        <p:nvSpPr>
          <p:cNvPr id="15" name="Text 12"/>
          <p:cNvSpPr/>
          <p:nvPr/>
        </p:nvSpPr>
        <p:spPr>
          <a:xfrm>
            <a:off x="819030" y="5222180"/>
            <a:ext cx="5981749"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Alexandria Medium" pitchFamily="34" charset="0"/>
                <a:ea typeface="Alexandria Medium" pitchFamily="34" charset="-122"/>
                <a:cs typeface="Alexandria Medium" pitchFamily="34" charset="-120"/>
              </a:rPr>
              <a:t>Edge Computing</a:t>
            </a:r>
            <a:endParaRPr lang="en-US" sz="1450" dirty="0"/>
          </a:p>
        </p:txBody>
      </p:sp>
      <p:sp>
        <p:nvSpPr>
          <p:cNvPr id="16" name="Text 13"/>
          <p:cNvSpPr/>
          <p:nvPr/>
        </p:nvSpPr>
        <p:spPr>
          <a:xfrm>
            <a:off x="819030" y="5530949"/>
            <a:ext cx="5981749" cy="217686"/>
          </a:xfrm>
          <a:prstGeom prst="rect">
            <a:avLst/>
          </a:prstGeom>
          <a:noFill/>
          <a:ln/>
        </p:spPr>
        <p:txBody>
          <a:bodyPr wrap="none" lIns="0" tIns="0" rIns="0" bIns="0" rtlCol="0" anchor="t"/>
          <a:lstStyle/>
          <a:p>
            <a:pPr marL="0" indent="0" algn="l">
              <a:lnSpc>
                <a:spcPct val="120000"/>
              </a:lnSpc>
              <a:buNone/>
            </a:pPr>
            <a:r>
              <a:rPr lang="en-US" sz="1150" dirty="0">
                <a:solidFill>
                  <a:srgbClr val="000000"/>
                </a:solidFill>
                <a:latin typeface="Manrope" pitchFamily="34" charset="0"/>
                <a:ea typeface="Manrope" pitchFamily="34" charset="-122"/>
                <a:cs typeface="Manrope" pitchFamily="34" charset="-120"/>
              </a:rPr>
              <a:t>Processes data locally on the Raspberry Pi, reducing latency and bandwidth.</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1139"/>
            <a:ext cx="10868745" cy="486370"/>
          </a:xfrm>
          <a:prstGeom prst="rect">
            <a:avLst/>
          </a:prstGeom>
          <a:noFill/>
          <a:ln/>
        </p:spPr>
        <p:txBody>
          <a:bodyPr wrap="none" lIns="0" tIns="0" rIns="0" bIns="0" rtlCol="0" anchor="t"/>
          <a:lstStyle/>
          <a:p>
            <a:pPr marL="0" indent="0" algn="l">
              <a:lnSpc>
                <a:spcPct val="104000"/>
              </a:lnSpc>
              <a:buNone/>
            </a:pPr>
            <a:r>
              <a:rPr lang="en-US" sz="3050" dirty="0">
                <a:solidFill>
                  <a:srgbClr val="5B6E8C"/>
                </a:solidFill>
                <a:latin typeface="Alexandria Medium" pitchFamily="34" charset="0"/>
                <a:ea typeface="Alexandria Medium" pitchFamily="34" charset="-122"/>
                <a:cs typeface="Alexandria Medium" pitchFamily="34" charset="-120"/>
              </a:rPr>
              <a:t>Problem Statement</a:t>
            </a:r>
            <a:endParaRPr lang="en-US" sz="3050" dirty="0"/>
          </a:p>
        </p:txBody>
      </p:sp>
      <p:pic>
        <p:nvPicPr>
          <p:cNvPr id="3" name="Image 0" descr="preencoded.png"/>
          <p:cNvPicPr>
            <a:picLocks noChangeAspect="1"/>
          </p:cNvPicPr>
          <p:nvPr/>
        </p:nvPicPr>
        <p:blipFill>
          <a:blip r:embed="rId3"/>
          <a:stretch>
            <a:fillRect/>
          </a:stretch>
        </p:blipFill>
        <p:spPr>
          <a:xfrm>
            <a:off x="1181368" y="1363861"/>
            <a:ext cx="5891958" cy="3314303"/>
          </a:xfrm>
          <a:prstGeom prst="rect">
            <a:avLst/>
          </a:prstGeom>
        </p:spPr>
      </p:pic>
      <p:sp>
        <p:nvSpPr>
          <p:cNvPr id="4" name="Text 1"/>
          <p:cNvSpPr/>
          <p:nvPr/>
        </p:nvSpPr>
        <p:spPr>
          <a:xfrm>
            <a:off x="7979171" y="2379663"/>
            <a:ext cx="3557300" cy="486370"/>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5B6E8C"/>
                </a:solidFill>
                <a:latin typeface="Alexandria Medium" pitchFamily="34" charset="0"/>
                <a:ea typeface="Alexandria Medium" pitchFamily="34" charset="-122"/>
                <a:cs typeface="Alexandria Medium" pitchFamily="34" charset="-120"/>
              </a:rPr>
              <a:t>Limitations of Traditional Surveillance</a:t>
            </a:r>
            <a:endParaRPr lang="en-US" sz="1500" dirty="0"/>
          </a:p>
        </p:txBody>
      </p:sp>
      <p:sp>
        <p:nvSpPr>
          <p:cNvPr id="5" name="Text 2"/>
          <p:cNvSpPr/>
          <p:nvPr/>
        </p:nvSpPr>
        <p:spPr>
          <a:xfrm>
            <a:off x="7979171" y="2994124"/>
            <a:ext cx="3557300" cy="681038"/>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5B6E8C"/>
                </a:solidFill>
                <a:latin typeface="Manrope" pitchFamily="34" charset="0"/>
                <a:ea typeface="Manrope" pitchFamily="34" charset="-122"/>
                <a:cs typeface="Manrope" pitchFamily="34" charset="-120"/>
              </a:rPr>
              <a:t>Conventional systems rely on passive recording and human monitoring — a model that is slow, error-prone, and costly at scale.</a:t>
            </a:r>
            <a:endParaRPr lang="en-US" sz="12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966494"/>
            <a:ext cx="3537457" cy="1350367"/>
          </a:xfrm>
          <a:prstGeom prst="rect">
            <a:avLst/>
          </a:prstGeom>
        </p:spPr>
      </p:pic>
      <p:sp>
        <p:nvSpPr>
          <p:cNvPr id="7" name="Text 3"/>
          <p:cNvSpPr/>
          <p:nvPr/>
        </p:nvSpPr>
        <p:spPr>
          <a:xfrm>
            <a:off x="912294" y="5141119"/>
            <a:ext cx="3112017" cy="243185"/>
          </a:xfrm>
          <a:prstGeom prst="rect">
            <a:avLst/>
          </a:prstGeom>
          <a:noFill/>
          <a:ln/>
        </p:spPr>
        <p:txBody>
          <a:bodyPr wrap="none" lIns="0" tIns="0" rIns="0" bIns="0" rtlCol="0" anchor="t"/>
          <a:lstStyle/>
          <a:p>
            <a:pPr marL="0" indent="0" algn="l">
              <a:lnSpc>
                <a:spcPct val="104000"/>
              </a:lnSpc>
              <a:buNone/>
            </a:pPr>
            <a:r>
              <a:rPr lang="en-US" sz="1500" dirty="0">
                <a:solidFill>
                  <a:srgbClr val="5B6E8C"/>
                </a:solidFill>
                <a:latin typeface="Alexandria Medium" pitchFamily="34" charset="0"/>
                <a:ea typeface="Alexandria Medium" pitchFamily="34" charset="-122"/>
                <a:cs typeface="Alexandria Medium" pitchFamily="34" charset="-120"/>
              </a:rPr>
              <a:t>Human Dependency</a:t>
            </a:r>
            <a:endParaRPr lang="en-US" sz="1500" dirty="0"/>
          </a:p>
        </p:txBody>
      </p:sp>
      <p:sp>
        <p:nvSpPr>
          <p:cNvPr id="8" name="Text 4"/>
          <p:cNvSpPr/>
          <p:nvPr/>
        </p:nvSpPr>
        <p:spPr>
          <a:xfrm>
            <a:off x="912294" y="5461198"/>
            <a:ext cx="3112017" cy="681038"/>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5B6E8C"/>
                </a:solidFill>
                <a:latin typeface="Manrope" pitchFamily="34" charset="0"/>
                <a:ea typeface="Manrope" pitchFamily="34" charset="-122"/>
                <a:cs typeface="Manrope" pitchFamily="34" charset="-120"/>
              </a:rPr>
              <a:t>Continuous manual monitoring is impractical and prone to fatigue-induced errors.</a:t>
            </a:r>
            <a:endParaRPr lang="en-US" sz="12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27020" y="4966494"/>
            <a:ext cx="3537556" cy="1350367"/>
          </a:xfrm>
          <a:prstGeom prst="rect">
            <a:avLst/>
          </a:prstGeom>
        </p:spPr>
      </p:pic>
      <p:sp>
        <p:nvSpPr>
          <p:cNvPr id="10" name="Text 5"/>
          <p:cNvSpPr/>
          <p:nvPr/>
        </p:nvSpPr>
        <p:spPr>
          <a:xfrm>
            <a:off x="4577839" y="5141119"/>
            <a:ext cx="3112117" cy="243185"/>
          </a:xfrm>
          <a:prstGeom prst="rect">
            <a:avLst/>
          </a:prstGeom>
          <a:noFill/>
          <a:ln/>
        </p:spPr>
        <p:txBody>
          <a:bodyPr wrap="none" lIns="0" tIns="0" rIns="0" bIns="0" rtlCol="0" anchor="t"/>
          <a:lstStyle/>
          <a:p>
            <a:pPr marL="0" indent="0" algn="l">
              <a:lnSpc>
                <a:spcPct val="104000"/>
              </a:lnSpc>
              <a:buNone/>
            </a:pPr>
            <a:r>
              <a:rPr lang="en-US" sz="1500" dirty="0">
                <a:solidFill>
                  <a:srgbClr val="5B6E8C"/>
                </a:solidFill>
                <a:latin typeface="Alexandria Medium" pitchFamily="34" charset="0"/>
                <a:ea typeface="Alexandria Medium" pitchFamily="34" charset="-122"/>
                <a:cs typeface="Alexandria Medium" pitchFamily="34" charset="-120"/>
              </a:rPr>
              <a:t>Delayed Response</a:t>
            </a:r>
            <a:endParaRPr lang="en-US" sz="1500" dirty="0"/>
          </a:p>
        </p:txBody>
      </p:sp>
      <p:sp>
        <p:nvSpPr>
          <p:cNvPr id="11" name="Text 6"/>
          <p:cNvSpPr/>
          <p:nvPr/>
        </p:nvSpPr>
        <p:spPr>
          <a:xfrm>
            <a:off x="4577839" y="5461198"/>
            <a:ext cx="3112117" cy="454025"/>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5B6E8C"/>
                </a:solidFill>
                <a:latin typeface="Manrope" pitchFamily="34" charset="0"/>
                <a:ea typeface="Manrope" pitchFamily="34" charset="-122"/>
                <a:cs typeface="Manrope" pitchFamily="34" charset="-120"/>
              </a:rPr>
              <a:t>Incidents are detected only after review, not in real time.</a:t>
            </a:r>
            <a:endParaRPr lang="en-US" sz="12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2664" y="4966494"/>
            <a:ext cx="3537556" cy="1350367"/>
          </a:xfrm>
          <a:prstGeom prst="rect">
            <a:avLst/>
          </a:prstGeom>
        </p:spPr>
      </p:pic>
      <p:sp>
        <p:nvSpPr>
          <p:cNvPr id="13" name="Text 7"/>
          <p:cNvSpPr/>
          <p:nvPr/>
        </p:nvSpPr>
        <p:spPr>
          <a:xfrm>
            <a:off x="8243483" y="5141119"/>
            <a:ext cx="3112117" cy="243185"/>
          </a:xfrm>
          <a:prstGeom prst="rect">
            <a:avLst/>
          </a:prstGeom>
          <a:noFill/>
          <a:ln/>
        </p:spPr>
        <p:txBody>
          <a:bodyPr wrap="none" lIns="0" tIns="0" rIns="0" bIns="0" rtlCol="0" anchor="t"/>
          <a:lstStyle/>
          <a:p>
            <a:pPr marL="0" indent="0" algn="l">
              <a:lnSpc>
                <a:spcPct val="104000"/>
              </a:lnSpc>
              <a:buNone/>
            </a:pPr>
            <a:r>
              <a:rPr lang="en-US" sz="1500" dirty="0">
                <a:solidFill>
                  <a:srgbClr val="5B6E8C"/>
                </a:solidFill>
                <a:latin typeface="Alexandria Medium" pitchFamily="34" charset="0"/>
                <a:ea typeface="Alexandria Medium" pitchFamily="34" charset="-122"/>
                <a:cs typeface="Alexandria Medium" pitchFamily="34" charset="-120"/>
              </a:rPr>
              <a:t>No Intelligent Analysis</a:t>
            </a:r>
            <a:endParaRPr lang="en-US" sz="1500" dirty="0"/>
          </a:p>
        </p:txBody>
      </p:sp>
      <p:sp>
        <p:nvSpPr>
          <p:cNvPr id="14" name="Text 8"/>
          <p:cNvSpPr/>
          <p:nvPr/>
        </p:nvSpPr>
        <p:spPr>
          <a:xfrm>
            <a:off x="8243483" y="5461198"/>
            <a:ext cx="3112117" cy="454025"/>
          </a:xfrm>
          <a:prstGeom prst="rect">
            <a:avLst/>
          </a:prstGeom>
          <a:noFill/>
          <a:ln/>
        </p:spPr>
        <p:txBody>
          <a:bodyPr wrap="square" lIns="0" tIns="0" rIns="0" bIns="0" rtlCol="0" anchor="t">
            <a:normAutofit/>
          </a:bodyPr>
          <a:lstStyle/>
          <a:p>
            <a:pPr marL="0" indent="0" algn="l">
              <a:lnSpc>
                <a:spcPct val="122000"/>
              </a:lnSpc>
              <a:buNone/>
            </a:pPr>
            <a:r>
              <a:rPr lang="en-US" sz="1200" dirty="0">
                <a:solidFill>
                  <a:srgbClr val="5B6E8C"/>
                </a:solidFill>
                <a:latin typeface="Manrope" pitchFamily="34" charset="0"/>
                <a:ea typeface="Manrope" pitchFamily="34" charset="-122"/>
                <a:cs typeface="Manrope" pitchFamily="34" charset="-120"/>
              </a:rPr>
              <a:t>Traditional cameras record but cannot classify or interpret what they see.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39465"/>
            <a:ext cx="6296860" cy="561181"/>
          </a:xfrm>
          <a:prstGeom prst="rect">
            <a:avLst/>
          </a:prstGeom>
          <a:noFill/>
          <a:ln/>
        </p:spPr>
        <p:txBody>
          <a:bodyPr wrap="none" lIns="0" tIns="0" rIns="0" bIns="0" rtlCol="0" anchor="t"/>
          <a:lstStyle/>
          <a:p>
            <a:pPr marL="0" indent="0" algn="l">
              <a:lnSpc>
                <a:spcPct val="104000"/>
              </a:lnSpc>
              <a:buNone/>
            </a:pPr>
            <a:r>
              <a:rPr lang="en-US" sz="3500" dirty="0">
                <a:solidFill>
                  <a:srgbClr val="5B6E8C"/>
                </a:solidFill>
                <a:latin typeface="Alexandria Medium" pitchFamily="34" charset="0"/>
                <a:ea typeface="Alexandria Medium" pitchFamily="34" charset="-122"/>
                <a:cs typeface="Alexandria Medium" pitchFamily="34" charset="-120"/>
              </a:rPr>
              <a:t>Project Objectives</a:t>
            </a:r>
            <a:endParaRPr lang="en-US" sz="35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1456531"/>
            <a:ext cx="359064" cy="359073"/>
          </a:xfrm>
          <a:prstGeom prst="rect">
            <a:avLst/>
          </a:prstGeom>
        </p:spPr>
      </p:pic>
      <p:sp>
        <p:nvSpPr>
          <p:cNvPr id="5" name="Text 1"/>
          <p:cNvSpPr/>
          <p:nvPr/>
        </p:nvSpPr>
        <p:spPr>
          <a:xfrm>
            <a:off x="1233754" y="1518245"/>
            <a:ext cx="5724580" cy="280491"/>
          </a:xfrm>
          <a:prstGeom prst="rect">
            <a:avLst/>
          </a:prstGeom>
          <a:noFill/>
          <a:ln/>
        </p:spPr>
        <p:txBody>
          <a:bodyPr wrap="none" lIns="0" tIns="0" rIns="0" bIns="0" rtlCol="0" anchor="t"/>
          <a:lstStyle/>
          <a:p>
            <a:pPr marL="0" indent="0" algn="l">
              <a:lnSpc>
                <a:spcPct val="104000"/>
              </a:lnSpc>
              <a:buNone/>
            </a:pPr>
            <a:r>
              <a:rPr lang="en-US" sz="1750" dirty="0">
                <a:solidFill>
                  <a:srgbClr val="5B6E8C"/>
                </a:solidFill>
                <a:latin typeface="Alexandria Medium" pitchFamily="34" charset="0"/>
                <a:ea typeface="Alexandria Medium" pitchFamily="34" charset="-122"/>
                <a:cs typeface="Alexandria Medium" pitchFamily="34" charset="-120"/>
              </a:rPr>
              <a:t>Real-Time Detection</a:t>
            </a:r>
            <a:endParaRPr lang="en-US" sz="1750" dirty="0"/>
          </a:p>
        </p:txBody>
      </p:sp>
      <p:sp>
        <p:nvSpPr>
          <p:cNvPr id="6" name="Text 2"/>
          <p:cNvSpPr/>
          <p:nvPr/>
        </p:nvSpPr>
        <p:spPr>
          <a:xfrm>
            <a:off x="1233754" y="1901031"/>
            <a:ext cx="5724580" cy="280095"/>
          </a:xfrm>
          <a:prstGeom prst="rect">
            <a:avLst/>
          </a:prstGeom>
          <a:noFill/>
          <a:ln/>
        </p:spPr>
        <p:txBody>
          <a:bodyPr wrap="none" lIns="0" tIns="0" rIns="0" bIns="0" rtlCol="0" anchor="t"/>
          <a:lstStyle/>
          <a:p>
            <a:pPr marL="0" indent="0" algn="l">
              <a:lnSpc>
                <a:spcPct val="130000"/>
              </a:lnSpc>
              <a:buNone/>
            </a:pPr>
            <a:r>
              <a:rPr lang="en-US" sz="1400" dirty="0">
                <a:solidFill>
                  <a:srgbClr val="5B6E8C"/>
                </a:solidFill>
                <a:latin typeface="Manrope" pitchFamily="34" charset="0"/>
                <a:ea typeface="Manrope" pitchFamily="34" charset="-122"/>
                <a:cs typeface="Manrope" pitchFamily="34" charset="-120"/>
              </a:rPr>
              <a:t>Detect and classify objects in live video frames with minimal latency.</a:t>
            </a:r>
            <a:endParaRPr lang="en-US" sz="14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522240"/>
            <a:ext cx="359064" cy="359073"/>
          </a:xfrm>
          <a:prstGeom prst="rect">
            <a:avLst/>
          </a:prstGeom>
        </p:spPr>
      </p:pic>
      <p:sp>
        <p:nvSpPr>
          <p:cNvPr id="8" name="Text 3"/>
          <p:cNvSpPr/>
          <p:nvPr/>
        </p:nvSpPr>
        <p:spPr>
          <a:xfrm>
            <a:off x="1233754" y="2583954"/>
            <a:ext cx="5724580" cy="280491"/>
          </a:xfrm>
          <a:prstGeom prst="rect">
            <a:avLst/>
          </a:prstGeom>
          <a:noFill/>
          <a:ln/>
        </p:spPr>
        <p:txBody>
          <a:bodyPr wrap="none" lIns="0" tIns="0" rIns="0" bIns="0" rtlCol="0" anchor="t"/>
          <a:lstStyle/>
          <a:p>
            <a:pPr marL="0" indent="0" algn="l">
              <a:lnSpc>
                <a:spcPct val="104000"/>
              </a:lnSpc>
              <a:buNone/>
            </a:pPr>
            <a:r>
              <a:rPr lang="en-US" sz="1750" dirty="0">
                <a:solidFill>
                  <a:srgbClr val="5B6E8C"/>
                </a:solidFill>
                <a:latin typeface="Alexandria Medium" pitchFamily="34" charset="0"/>
                <a:ea typeface="Alexandria Medium" pitchFamily="34" charset="-122"/>
                <a:cs typeface="Alexandria Medium" pitchFamily="34" charset="-120"/>
              </a:rPr>
              <a:t>OpenCV + YOLO Integration</a:t>
            </a:r>
            <a:endParaRPr lang="en-US" sz="1750" dirty="0"/>
          </a:p>
        </p:txBody>
      </p:sp>
      <p:sp>
        <p:nvSpPr>
          <p:cNvPr id="9" name="Text 4"/>
          <p:cNvSpPr/>
          <p:nvPr/>
        </p:nvSpPr>
        <p:spPr>
          <a:xfrm>
            <a:off x="1233754" y="2966740"/>
            <a:ext cx="572458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6E8C"/>
                </a:solidFill>
                <a:latin typeface="Manrope" pitchFamily="34" charset="0"/>
                <a:ea typeface="Manrope" pitchFamily="34" charset="-122"/>
                <a:cs typeface="Manrope" pitchFamily="34" charset="-120"/>
              </a:rPr>
              <a:t>Leverage OpenCV for image processing and YOLOv8 for high-accuracy detection.</a:t>
            </a:r>
            <a:endParaRPr lang="en-US" sz="14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868043"/>
            <a:ext cx="359064" cy="359073"/>
          </a:xfrm>
          <a:prstGeom prst="rect">
            <a:avLst/>
          </a:prstGeom>
        </p:spPr>
      </p:pic>
      <p:sp>
        <p:nvSpPr>
          <p:cNvPr id="11" name="Text 5"/>
          <p:cNvSpPr/>
          <p:nvPr/>
        </p:nvSpPr>
        <p:spPr>
          <a:xfrm>
            <a:off x="1233754" y="3929757"/>
            <a:ext cx="5724580" cy="280491"/>
          </a:xfrm>
          <a:prstGeom prst="rect">
            <a:avLst/>
          </a:prstGeom>
          <a:noFill/>
          <a:ln/>
        </p:spPr>
        <p:txBody>
          <a:bodyPr wrap="none" lIns="0" tIns="0" rIns="0" bIns="0" rtlCol="0" anchor="t"/>
          <a:lstStyle/>
          <a:p>
            <a:pPr marL="0" indent="0" algn="l">
              <a:lnSpc>
                <a:spcPct val="104000"/>
              </a:lnSpc>
              <a:buNone/>
            </a:pPr>
            <a:r>
              <a:rPr lang="en-US" sz="1750" dirty="0">
                <a:solidFill>
                  <a:srgbClr val="5B6E8C"/>
                </a:solidFill>
                <a:latin typeface="Alexandria Medium" pitchFamily="34" charset="0"/>
                <a:ea typeface="Alexandria Medium" pitchFamily="34" charset="-122"/>
                <a:cs typeface="Alexandria Medium" pitchFamily="34" charset="-120"/>
              </a:rPr>
              <a:t>Edge Processing on Raspberry Pi</a:t>
            </a:r>
            <a:endParaRPr lang="en-US" sz="1750" dirty="0"/>
          </a:p>
        </p:txBody>
      </p:sp>
      <p:sp>
        <p:nvSpPr>
          <p:cNvPr id="12" name="Text 6"/>
          <p:cNvSpPr/>
          <p:nvPr/>
        </p:nvSpPr>
        <p:spPr>
          <a:xfrm>
            <a:off x="1233754" y="4312543"/>
            <a:ext cx="572458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6E8C"/>
                </a:solidFill>
                <a:latin typeface="Manrope" pitchFamily="34" charset="0"/>
                <a:ea typeface="Manrope" pitchFamily="34" charset="-122"/>
                <a:cs typeface="Manrope" pitchFamily="34" charset="-120"/>
              </a:rPr>
              <a:t>Execute all inference locally, eliminating cloud dependency for core detection.</a:t>
            </a:r>
            <a:endParaRPr lang="en-US" sz="14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5213846"/>
            <a:ext cx="359064" cy="359073"/>
          </a:xfrm>
          <a:prstGeom prst="rect">
            <a:avLst/>
          </a:prstGeom>
        </p:spPr>
      </p:pic>
      <p:sp>
        <p:nvSpPr>
          <p:cNvPr id="14" name="Text 7"/>
          <p:cNvSpPr/>
          <p:nvPr/>
        </p:nvSpPr>
        <p:spPr>
          <a:xfrm>
            <a:off x="1233754" y="5275560"/>
            <a:ext cx="5724580" cy="280491"/>
          </a:xfrm>
          <a:prstGeom prst="rect">
            <a:avLst/>
          </a:prstGeom>
          <a:noFill/>
          <a:ln/>
        </p:spPr>
        <p:txBody>
          <a:bodyPr wrap="none" lIns="0" tIns="0" rIns="0" bIns="0" rtlCol="0" anchor="t"/>
          <a:lstStyle/>
          <a:p>
            <a:pPr marL="0" indent="0" algn="l">
              <a:lnSpc>
                <a:spcPct val="104000"/>
              </a:lnSpc>
              <a:buNone/>
            </a:pPr>
            <a:r>
              <a:rPr lang="en-US" sz="1750" dirty="0">
                <a:solidFill>
                  <a:srgbClr val="5B6E8C"/>
                </a:solidFill>
                <a:latin typeface="Alexandria Medium" pitchFamily="34" charset="0"/>
                <a:ea typeface="Alexandria Medium" pitchFamily="34" charset="-122"/>
                <a:cs typeface="Alexandria Medium" pitchFamily="34" charset="-120"/>
              </a:rPr>
              <a:t>IoT Cloud Upload</a:t>
            </a:r>
            <a:endParaRPr lang="en-US" sz="1750" dirty="0"/>
          </a:p>
        </p:txBody>
      </p:sp>
      <p:sp>
        <p:nvSpPr>
          <p:cNvPr id="15" name="Text 8"/>
          <p:cNvSpPr/>
          <p:nvPr/>
        </p:nvSpPr>
        <p:spPr>
          <a:xfrm>
            <a:off x="1233754" y="5658346"/>
            <a:ext cx="572458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6E8C"/>
                </a:solidFill>
                <a:latin typeface="Manrope" pitchFamily="34" charset="0"/>
                <a:ea typeface="Manrope" pitchFamily="34" charset="-122"/>
                <a:cs typeface="Manrope" pitchFamily="34" charset="-120"/>
              </a:rPr>
              <a:t>Transmit detection metadata to a cloud dashboard via MQTT/HTTP for remote monitoring.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50478"/>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Proposed System Architecture</a:t>
            </a:r>
            <a:endParaRPr lang="en-US" sz="2750" dirty="0"/>
          </a:p>
        </p:txBody>
      </p:sp>
      <p:sp>
        <p:nvSpPr>
          <p:cNvPr id="3" name="Text 1"/>
          <p:cNvSpPr/>
          <p:nvPr/>
        </p:nvSpPr>
        <p:spPr>
          <a:xfrm>
            <a:off x="661475" y="1306116"/>
            <a:ext cx="11478330" cy="198438"/>
          </a:xfrm>
          <a:prstGeom prst="rect">
            <a:avLst/>
          </a:prstGeom>
          <a:noFill/>
          <a:ln/>
        </p:spPr>
        <p:txBody>
          <a:bodyPr wrap="none" lIns="0" tIns="0" rIns="0" bIns="0" rtlCol="0" anchor="t"/>
          <a:lstStyle/>
          <a:p>
            <a:pPr marL="0" indent="0" algn="l">
              <a:lnSpc>
                <a:spcPct val="117000"/>
              </a:lnSpc>
              <a:buNone/>
            </a:pPr>
            <a:r>
              <a:rPr lang="en-US" sz="1100" dirty="0">
                <a:solidFill>
                  <a:srgbClr val="5B6E8C"/>
                </a:solidFill>
                <a:latin typeface="Manrope" pitchFamily="34" charset="0"/>
                <a:ea typeface="Manrope" pitchFamily="34" charset="-122"/>
                <a:cs typeface="Manrope" pitchFamily="34" charset="-120"/>
              </a:rPr>
              <a:t>The end-to-end pipeline captures live video, processes it on the Raspberry Pi edge device, and streams detection results to a cloud dashboard for remote access.</a:t>
            </a:r>
            <a:endParaRPr lang="en-US" sz="1100" dirty="0"/>
          </a:p>
        </p:txBody>
      </p:sp>
      <p:pic>
        <p:nvPicPr>
          <p:cNvPr id="4" name="Image 0" descr="preencoded.png"/>
          <p:cNvPicPr>
            <a:picLocks noChangeAspect="1"/>
          </p:cNvPicPr>
          <p:nvPr/>
        </p:nvPicPr>
        <p:blipFill>
          <a:blip r:embed="rId3"/>
          <a:stretch>
            <a:fillRect/>
          </a:stretch>
        </p:blipFill>
        <p:spPr>
          <a:xfrm>
            <a:off x="2021882" y="1624112"/>
            <a:ext cx="8148235" cy="45834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67643"/>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5B6E8C"/>
                </a:solidFill>
                <a:latin typeface="Alexandria Medium" pitchFamily="34" charset="0"/>
                <a:ea typeface="Alexandria Medium" pitchFamily="34" charset="-122"/>
                <a:cs typeface="Alexandria Medium" pitchFamily="34" charset="-120"/>
              </a:rPr>
              <a:t>Hardware &amp; Software Stack</a:t>
            </a:r>
            <a:endParaRPr lang="en-US" sz="2600" dirty="0"/>
          </a:p>
        </p:txBody>
      </p:sp>
      <p:sp>
        <p:nvSpPr>
          <p:cNvPr id="3" name="Text 1"/>
          <p:cNvSpPr/>
          <p:nvPr/>
        </p:nvSpPr>
        <p:spPr>
          <a:xfrm>
            <a:off x="661475" y="1312565"/>
            <a:ext cx="5273047" cy="206673"/>
          </a:xfrm>
          <a:prstGeom prst="rect">
            <a:avLst/>
          </a:prstGeom>
          <a:noFill/>
          <a:ln/>
        </p:spPr>
        <p:txBody>
          <a:bodyPr wrap="none" lIns="0" tIns="0" rIns="0" bIns="0" rtlCol="0" anchor="t"/>
          <a:lstStyle/>
          <a:p>
            <a:pPr marL="0" indent="0" algn="l">
              <a:lnSpc>
                <a:spcPct val="104000"/>
              </a:lnSpc>
              <a:buNone/>
            </a:pPr>
            <a:r>
              <a:rPr lang="en-US" sz="1300" dirty="0">
                <a:solidFill>
                  <a:srgbClr val="5B6E8C"/>
                </a:solidFill>
                <a:latin typeface="Alexandria Medium" pitchFamily="34" charset="0"/>
                <a:ea typeface="Alexandria Medium" pitchFamily="34" charset="-122"/>
                <a:cs typeface="Alexandria Medium" pitchFamily="34" charset="-120"/>
              </a:rPr>
              <a:t>Hardware Components</a:t>
            </a:r>
            <a:endParaRPr lang="en-US" sz="1300" dirty="0"/>
          </a:p>
        </p:txBody>
      </p:sp>
      <p:sp>
        <p:nvSpPr>
          <p:cNvPr id="4" name="Shape 2"/>
          <p:cNvSpPr/>
          <p:nvPr/>
        </p:nvSpPr>
        <p:spPr>
          <a:xfrm>
            <a:off x="661475" y="1623417"/>
            <a:ext cx="5273047" cy="1867297"/>
          </a:xfrm>
          <a:prstGeom prst="roundRect">
            <a:avLst>
              <a:gd name="adj" fmla="val 10629"/>
            </a:avLst>
          </a:prstGeom>
          <a:noFill/>
          <a:ln w="6350">
            <a:solidFill>
              <a:srgbClr val="000000">
                <a:alpha val="8000"/>
              </a:srgbClr>
            </a:solidFill>
            <a:prstDash val="solid"/>
          </a:ln>
        </p:spPr>
      </p:sp>
      <p:sp>
        <p:nvSpPr>
          <p:cNvPr id="5" name="Shape 3"/>
          <p:cNvSpPr/>
          <p:nvPr/>
        </p:nvSpPr>
        <p:spPr>
          <a:xfrm>
            <a:off x="661475" y="1936750"/>
            <a:ext cx="5273047" cy="8270"/>
          </a:xfrm>
          <a:prstGeom prst="rect">
            <a:avLst/>
          </a:prstGeom>
          <a:solidFill>
            <a:srgbClr val="000000">
              <a:alpha val="8000"/>
            </a:srgbClr>
          </a:solidFill>
          <a:ln/>
        </p:spPr>
      </p:sp>
      <p:sp>
        <p:nvSpPr>
          <p:cNvPr id="6" name="Shape 4"/>
          <p:cNvSpPr/>
          <p:nvPr/>
        </p:nvSpPr>
        <p:spPr>
          <a:xfrm>
            <a:off x="661475" y="2246908"/>
            <a:ext cx="5273047" cy="8270"/>
          </a:xfrm>
          <a:prstGeom prst="rect">
            <a:avLst/>
          </a:prstGeom>
          <a:solidFill>
            <a:srgbClr val="000000">
              <a:alpha val="8000"/>
            </a:srgbClr>
          </a:solidFill>
          <a:ln/>
        </p:spPr>
      </p:sp>
      <p:sp>
        <p:nvSpPr>
          <p:cNvPr id="7" name="Shape 5"/>
          <p:cNvSpPr/>
          <p:nvPr/>
        </p:nvSpPr>
        <p:spPr>
          <a:xfrm>
            <a:off x="661475" y="2557066"/>
            <a:ext cx="5273047" cy="8270"/>
          </a:xfrm>
          <a:prstGeom prst="rect">
            <a:avLst/>
          </a:prstGeom>
          <a:solidFill>
            <a:srgbClr val="000000">
              <a:alpha val="8000"/>
            </a:srgbClr>
          </a:solidFill>
          <a:ln/>
        </p:spPr>
      </p:sp>
      <p:sp>
        <p:nvSpPr>
          <p:cNvPr id="8" name="Shape 6"/>
          <p:cNvSpPr/>
          <p:nvPr/>
        </p:nvSpPr>
        <p:spPr>
          <a:xfrm>
            <a:off x="661475" y="2867223"/>
            <a:ext cx="5273047" cy="8270"/>
          </a:xfrm>
          <a:prstGeom prst="rect">
            <a:avLst/>
          </a:prstGeom>
          <a:solidFill>
            <a:srgbClr val="000000">
              <a:alpha val="8000"/>
            </a:srgbClr>
          </a:solidFill>
          <a:ln/>
        </p:spPr>
      </p:sp>
      <p:sp>
        <p:nvSpPr>
          <p:cNvPr id="9" name="Shape 7"/>
          <p:cNvSpPr/>
          <p:nvPr/>
        </p:nvSpPr>
        <p:spPr>
          <a:xfrm>
            <a:off x="661475" y="3177381"/>
            <a:ext cx="5273047" cy="8270"/>
          </a:xfrm>
          <a:prstGeom prst="rect">
            <a:avLst/>
          </a:prstGeom>
          <a:solidFill>
            <a:srgbClr val="000000">
              <a:alpha val="8000"/>
            </a:srgbClr>
          </a:solidFill>
          <a:ln/>
        </p:spPr>
      </p:sp>
      <p:sp>
        <p:nvSpPr>
          <p:cNvPr id="10" name="Shape 8"/>
          <p:cNvSpPr/>
          <p:nvPr/>
        </p:nvSpPr>
        <p:spPr>
          <a:xfrm>
            <a:off x="2772003" y="1623417"/>
            <a:ext cx="8270" cy="1867297"/>
          </a:xfrm>
          <a:prstGeom prst="rect">
            <a:avLst/>
          </a:prstGeom>
          <a:solidFill>
            <a:srgbClr val="000000">
              <a:alpha val="8000"/>
            </a:srgbClr>
          </a:solidFill>
          <a:ln/>
        </p:spPr>
      </p:sp>
      <p:sp>
        <p:nvSpPr>
          <p:cNvPr id="11" name="Text 9"/>
          <p:cNvSpPr/>
          <p:nvPr/>
        </p:nvSpPr>
        <p:spPr>
          <a:xfrm>
            <a:off x="800179" y="1691680"/>
            <a:ext cx="2445979" cy="179983"/>
          </a:xfrm>
          <a:prstGeom prst="rect">
            <a:avLst/>
          </a:prstGeom>
          <a:noFill/>
          <a:ln/>
        </p:spPr>
        <p:txBody>
          <a:bodyPr wrap="none" lIns="0" tIns="0" rIns="0" bIns="0" rtlCol="0" anchor="t"/>
          <a:lstStyle/>
          <a:p>
            <a:pPr marL="0" indent="0" algn="l">
              <a:lnSpc>
                <a:spcPct val="113000"/>
              </a:lnSpc>
              <a:buNone/>
            </a:pPr>
            <a:r>
              <a:rPr lang="en-US" sz="1000" b="1" dirty="0">
                <a:solidFill>
                  <a:srgbClr val="5B6E8C"/>
                </a:solidFill>
                <a:latin typeface="Manrope Bold" pitchFamily="34" charset="0"/>
                <a:ea typeface="Manrope Bold" pitchFamily="34" charset="-122"/>
                <a:cs typeface="Manrope Bold" pitchFamily="34" charset="-120"/>
              </a:rPr>
              <a:t>Component</a:t>
            </a:r>
            <a:endParaRPr lang="en-US" sz="1000" dirty="0"/>
          </a:p>
        </p:txBody>
      </p:sp>
      <p:sp>
        <p:nvSpPr>
          <p:cNvPr id="12" name="Text 10"/>
          <p:cNvSpPr/>
          <p:nvPr/>
        </p:nvSpPr>
        <p:spPr>
          <a:xfrm>
            <a:off x="2907434" y="1691680"/>
            <a:ext cx="3498068" cy="179983"/>
          </a:xfrm>
          <a:prstGeom prst="rect">
            <a:avLst/>
          </a:prstGeom>
          <a:noFill/>
          <a:ln/>
        </p:spPr>
        <p:txBody>
          <a:bodyPr wrap="none" lIns="0" tIns="0" rIns="0" bIns="0" rtlCol="0" anchor="t"/>
          <a:lstStyle/>
          <a:p>
            <a:pPr marL="0" indent="0" algn="l">
              <a:lnSpc>
                <a:spcPct val="113000"/>
              </a:lnSpc>
              <a:buNone/>
            </a:pPr>
            <a:r>
              <a:rPr lang="en-US" sz="1000" b="1" dirty="0">
                <a:solidFill>
                  <a:srgbClr val="5B6E8C"/>
                </a:solidFill>
                <a:latin typeface="Manrope Bold" pitchFamily="34" charset="0"/>
                <a:ea typeface="Manrope Bold" pitchFamily="34" charset="-122"/>
                <a:cs typeface="Manrope Bold" pitchFamily="34" charset="-120"/>
              </a:rPr>
              <a:t>Specification</a:t>
            </a:r>
            <a:endParaRPr lang="en-US" sz="1000" dirty="0"/>
          </a:p>
        </p:txBody>
      </p:sp>
      <p:sp>
        <p:nvSpPr>
          <p:cNvPr id="13" name="Text 11"/>
          <p:cNvSpPr/>
          <p:nvPr/>
        </p:nvSpPr>
        <p:spPr>
          <a:xfrm>
            <a:off x="800179" y="2001837"/>
            <a:ext cx="2445979"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Raspberry Pi </a:t>
            </a:r>
            <a:endParaRPr lang="en-US" sz="1000" dirty="0"/>
          </a:p>
        </p:txBody>
      </p:sp>
      <p:sp>
        <p:nvSpPr>
          <p:cNvPr id="14" name="Text 12"/>
          <p:cNvSpPr/>
          <p:nvPr/>
        </p:nvSpPr>
        <p:spPr>
          <a:xfrm>
            <a:off x="2907434" y="2001837"/>
            <a:ext cx="3498068"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4GB RAM, 1.5GHz Quad-core</a:t>
            </a:r>
            <a:endParaRPr lang="en-US" sz="1000" dirty="0"/>
          </a:p>
        </p:txBody>
      </p:sp>
      <p:sp>
        <p:nvSpPr>
          <p:cNvPr id="15" name="Text 13"/>
          <p:cNvSpPr/>
          <p:nvPr/>
        </p:nvSpPr>
        <p:spPr>
          <a:xfrm>
            <a:off x="800179" y="2311995"/>
            <a:ext cx="2445979"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USB Webcam</a:t>
            </a:r>
            <a:endParaRPr lang="en-US" sz="1000" dirty="0"/>
          </a:p>
        </p:txBody>
      </p:sp>
      <p:sp>
        <p:nvSpPr>
          <p:cNvPr id="16" name="Text 14"/>
          <p:cNvSpPr/>
          <p:nvPr/>
        </p:nvSpPr>
        <p:spPr>
          <a:xfrm>
            <a:off x="2907434" y="2311995"/>
            <a:ext cx="3498068"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720p/1080p, 30fps</a:t>
            </a:r>
            <a:endParaRPr lang="en-US" sz="1000" dirty="0"/>
          </a:p>
        </p:txBody>
      </p:sp>
      <p:sp>
        <p:nvSpPr>
          <p:cNvPr id="17" name="Text 15"/>
          <p:cNvSpPr/>
          <p:nvPr/>
        </p:nvSpPr>
        <p:spPr>
          <a:xfrm>
            <a:off x="800179" y="2622153"/>
            <a:ext cx="2445979"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MicroSD Card</a:t>
            </a:r>
            <a:endParaRPr lang="en-US" sz="1000" dirty="0"/>
          </a:p>
        </p:txBody>
      </p:sp>
      <p:sp>
        <p:nvSpPr>
          <p:cNvPr id="18" name="Text 16"/>
          <p:cNvSpPr/>
          <p:nvPr/>
        </p:nvSpPr>
        <p:spPr>
          <a:xfrm>
            <a:off x="2907434" y="2622153"/>
            <a:ext cx="3498068"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32GB Class 10</a:t>
            </a:r>
            <a:endParaRPr lang="en-US" sz="1000" dirty="0"/>
          </a:p>
        </p:txBody>
      </p:sp>
      <p:sp>
        <p:nvSpPr>
          <p:cNvPr id="19" name="Text 17"/>
          <p:cNvSpPr/>
          <p:nvPr/>
        </p:nvSpPr>
        <p:spPr>
          <a:xfrm>
            <a:off x="800179" y="2932311"/>
            <a:ext cx="2445979"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Power Adapter</a:t>
            </a:r>
            <a:endParaRPr lang="en-US" sz="1000" dirty="0"/>
          </a:p>
        </p:txBody>
      </p:sp>
      <p:sp>
        <p:nvSpPr>
          <p:cNvPr id="20" name="Text 18"/>
          <p:cNvSpPr/>
          <p:nvPr/>
        </p:nvSpPr>
        <p:spPr>
          <a:xfrm>
            <a:off x="2907434" y="2932311"/>
            <a:ext cx="3498068"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5V / 3A USB-C</a:t>
            </a:r>
            <a:endParaRPr lang="en-US" sz="1000" dirty="0"/>
          </a:p>
        </p:txBody>
      </p:sp>
      <p:sp>
        <p:nvSpPr>
          <p:cNvPr id="21" name="Text 19"/>
          <p:cNvSpPr/>
          <p:nvPr/>
        </p:nvSpPr>
        <p:spPr>
          <a:xfrm>
            <a:off x="800179" y="3242469"/>
            <a:ext cx="2445979"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Wi-Fi Module</a:t>
            </a:r>
            <a:endParaRPr lang="en-US" sz="1000" dirty="0"/>
          </a:p>
        </p:txBody>
      </p:sp>
      <p:sp>
        <p:nvSpPr>
          <p:cNvPr id="22" name="Text 20"/>
          <p:cNvSpPr/>
          <p:nvPr/>
        </p:nvSpPr>
        <p:spPr>
          <a:xfrm>
            <a:off x="2907434" y="3242469"/>
            <a:ext cx="3498068" cy="179983"/>
          </a:xfrm>
          <a:prstGeom prst="rect">
            <a:avLst/>
          </a:prstGeom>
          <a:noFill/>
          <a:ln/>
        </p:spPr>
        <p:txBody>
          <a:bodyPr wrap="none" lIns="0" tIns="0" rIns="0" bIns="0" rtlCol="0" anchor="t"/>
          <a:lstStyle/>
          <a:p>
            <a:pPr marL="0" indent="0" algn="l">
              <a:lnSpc>
                <a:spcPct val="113000"/>
              </a:lnSpc>
              <a:buNone/>
            </a:pPr>
            <a:r>
              <a:rPr lang="en-US" sz="1000" dirty="0">
                <a:solidFill>
                  <a:srgbClr val="5B6E8C"/>
                </a:solidFill>
                <a:latin typeface="Manrope" pitchFamily="34" charset="0"/>
                <a:ea typeface="Manrope" pitchFamily="34" charset="-122"/>
                <a:cs typeface="Manrope" pitchFamily="34" charset="-120"/>
              </a:rPr>
              <a:t>802.11ac Dual-band</a:t>
            </a:r>
            <a:endParaRPr lang="en-US" sz="1000" dirty="0"/>
          </a:p>
        </p:txBody>
      </p:sp>
      <p:sp>
        <p:nvSpPr>
          <p:cNvPr id="23" name="Text 21"/>
          <p:cNvSpPr/>
          <p:nvPr/>
        </p:nvSpPr>
        <p:spPr>
          <a:xfrm>
            <a:off x="6263523" y="1312565"/>
            <a:ext cx="5273047" cy="206673"/>
          </a:xfrm>
          <a:prstGeom prst="rect">
            <a:avLst/>
          </a:prstGeom>
          <a:noFill/>
          <a:ln/>
        </p:spPr>
        <p:txBody>
          <a:bodyPr wrap="none" lIns="0" tIns="0" rIns="0" bIns="0" rtlCol="0" anchor="t"/>
          <a:lstStyle/>
          <a:p>
            <a:pPr marL="0" indent="0" algn="l">
              <a:lnSpc>
                <a:spcPct val="104000"/>
              </a:lnSpc>
              <a:buNone/>
            </a:pPr>
            <a:r>
              <a:rPr lang="en-US" sz="1300" dirty="0">
                <a:solidFill>
                  <a:srgbClr val="5B6E8C"/>
                </a:solidFill>
                <a:latin typeface="Alexandria Medium" pitchFamily="34" charset="0"/>
                <a:ea typeface="Alexandria Medium" pitchFamily="34" charset="-122"/>
                <a:cs typeface="Alexandria Medium" pitchFamily="34" charset="-120"/>
              </a:rPr>
              <a:t>Software Components</a:t>
            </a:r>
            <a:endParaRPr lang="en-US" sz="1300" dirty="0"/>
          </a:p>
        </p:txBody>
      </p:sp>
      <p:sp>
        <p:nvSpPr>
          <p:cNvPr id="24" name="Shape 22"/>
          <p:cNvSpPr/>
          <p:nvPr/>
        </p:nvSpPr>
        <p:spPr>
          <a:xfrm>
            <a:off x="6263523" y="1623417"/>
            <a:ext cx="2590239" cy="1425873"/>
          </a:xfrm>
          <a:prstGeom prst="roundRect">
            <a:avLst>
              <a:gd name="adj" fmla="val 13919"/>
            </a:avLst>
          </a:prstGeom>
          <a:solidFill>
            <a:srgbClr val="E6F7FF"/>
          </a:solidFill>
          <a:ln w="6350">
            <a:solidFill>
              <a:srgbClr val="B3D5E4"/>
            </a:solidFill>
            <a:prstDash val="solid"/>
          </a:ln>
        </p:spPr>
      </p:sp>
      <p:sp>
        <p:nvSpPr>
          <p:cNvPr id="25" name="Shape 23"/>
          <p:cNvSpPr/>
          <p:nvPr/>
        </p:nvSpPr>
        <p:spPr>
          <a:xfrm>
            <a:off x="6402128" y="1762026"/>
            <a:ext cx="396865" cy="396875"/>
          </a:xfrm>
          <a:prstGeom prst="ellipse">
            <a:avLst/>
          </a:prstGeom>
          <a:solidFill>
            <a:srgbClr val="D4CCFA"/>
          </a:solidFill>
          <a:ln/>
        </p:spPr>
      </p:sp>
      <p:pic>
        <p:nvPicPr>
          <p:cNvPr id="2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266" y="1871166"/>
            <a:ext cx="178589" cy="178594"/>
          </a:xfrm>
          <a:prstGeom prst="rect">
            <a:avLst/>
          </a:prstGeom>
        </p:spPr>
      </p:pic>
      <p:sp>
        <p:nvSpPr>
          <p:cNvPr id="27" name="Text 24"/>
          <p:cNvSpPr/>
          <p:nvPr/>
        </p:nvSpPr>
        <p:spPr>
          <a:xfrm>
            <a:off x="6402128" y="2251472"/>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Raspberry Pi OS</a:t>
            </a:r>
            <a:endParaRPr lang="en-US" sz="1300" dirty="0"/>
          </a:p>
        </p:txBody>
      </p:sp>
      <p:sp>
        <p:nvSpPr>
          <p:cNvPr id="28" name="Text 25"/>
          <p:cNvSpPr/>
          <p:nvPr/>
        </p:nvSpPr>
        <p:spPr>
          <a:xfrm>
            <a:off x="6402128" y="2550716"/>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Lightweight Linux distro optimized for Pi.</a:t>
            </a:r>
            <a:endParaRPr lang="en-US" sz="1000" dirty="0"/>
          </a:p>
        </p:txBody>
      </p:sp>
      <p:sp>
        <p:nvSpPr>
          <p:cNvPr id="29" name="Shape 26"/>
          <p:cNvSpPr/>
          <p:nvPr/>
        </p:nvSpPr>
        <p:spPr>
          <a:xfrm>
            <a:off x="8946331" y="1623417"/>
            <a:ext cx="2590239" cy="1425873"/>
          </a:xfrm>
          <a:prstGeom prst="roundRect">
            <a:avLst>
              <a:gd name="adj" fmla="val 13919"/>
            </a:avLst>
          </a:prstGeom>
          <a:solidFill>
            <a:srgbClr val="E6F7FF"/>
          </a:solidFill>
          <a:ln w="6350">
            <a:solidFill>
              <a:srgbClr val="B3D5E4"/>
            </a:solidFill>
            <a:prstDash val="solid"/>
          </a:ln>
        </p:spPr>
      </p:sp>
      <p:sp>
        <p:nvSpPr>
          <p:cNvPr id="30" name="Shape 27"/>
          <p:cNvSpPr/>
          <p:nvPr/>
        </p:nvSpPr>
        <p:spPr>
          <a:xfrm>
            <a:off x="9084936" y="1762026"/>
            <a:ext cx="396865" cy="396875"/>
          </a:xfrm>
          <a:prstGeom prst="ellipse">
            <a:avLst/>
          </a:prstGeom>
          <a:solidFill>
            <a:srgbClr val="D4CCFA"/>
          </a:solidFill>
          <a:ln/>
        </p:spPr>
      </p:sp>
      <p:pic>
        <p:nvPicPr>
          <p:cNvPr id="3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94074" y="1871166"/>
            <a:ext cx="178589" cy="178594"/>
          </a:xfrm>
          <a:prstGeom prst="rect">
            <a:avLst/>
          </a:prstGeom>
        </p:spPr>
      </p:pic>
      <p:sp>
        <p:nvSpPr>
          <p:cNvPr id="32" name="Text 28"/>
          <p:cNvSpPr/>
          <p:nvPr/>
        </p:nvSpPr>
        <p:spPr>
          <a:xfrm>
            <a:off x="9084936" y="2251472"/>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Python 3</a:t>
            </a:r>
            <a:endParaRPr lang="en-US" sz="1300" dirty="0"/>
          </a:p>
        </p:txBody>
      </p:sp>
      <p:sp>
        <p:nvSpPr>
          <p:cNvPr id="33" name="Text 29"/>
          <p:cNvSpPr/>
          <p:nvPr/>
        </p:nvSpPr>
        <p:spPr>
          <a:xfrm>
            <a:off x="9084936" y="2550716"/>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Core programming language for detection pipeline.</a:t>
            </a:r>
            <a:endParaRPr lang="en-US" sz="1000" dirty="0"/>
          </a:p>
        </p:txBody>
      </p:sp>
      <p:sp>
        <p:nvSpPr>
          <p:cNvPr id="34" name="Shape 30"/>
          <p:cNvSpPr/>
          <p:nvPr/>
        </p:nvSpPr>
        <p:spPr>
          <a:xfrm>
            <a:off x="6263523" y="3141861"/>
            <a:ext cx="2590239" cy="1425873"/>
          </a:xfrm>
          <a:prstGeom prst="roundRect">
            <a:avLst>
              <a:gd name="adj" fmla="val 13919"/>
            </a:avLst>
          </a:prstGeom>
          <a:solidFill>
            <a:srgbClr val="E6F7FF"/>
          </a:solidFill>
          <a:ln w="6350">
            <a:solidFill>
              <a:srgbClr val="B3D5E4"/>
            </a:solidFill>
            <a:prstDash val="solid"/>
          </a:ln>
        </p:spPr>
      </p:sp>
      <p:sp>
        <p:nvSpPr>
          <p:cNvPr id="35" name="Shape 31"/>
          <p:cNvSpPr/>
          <p:nvPr/>
        </p:nvSpPr>
        <p:spPr>
          <a:xfrm>
            <a:off x="6402128" y="3280470"/>
            <a:ext cx="396865" cy="396875"/>
          </a:xfrm>
          <a:prstGeom prst="ellipse">
            <a:avLst/>
          </a:prstGeom>
          <a:solidFill>
            <a:srgbClr val="D4CCFA"/>
          </a:solidFill>
          <a:ln/>
        </p:spPr>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1266" y="3389610"/>
            <a:ext cx="178589" cy="178594"/>
          </a:xfrm>
          <a:prstGeom prst="rect">
            <a:avLst/>
          </a:prstGeom>
        </p:spPr>
      </p:pic>
      <p:sp>
        <p:nvSpPr>
          <p:cNvPr id="37" name="Text 32"/>
          <p:cNvSpPr/>
          <p:nvPr/>
        </p:nvSpPr>
        <p:spPr>
          <a:xfrm>
            <a:off x="6402128" y="3769916"/>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OpenCV</a:t>
            </a:r>
            <a:endParaRPr lang="en-US" sz="1300" dirty="0"/>
          </a:p>
        </p:txBody>
      </p:sp>
      <p:sp>
        <p:nvSpPr>
          <p:cNvPr id="38" name="Text 33"/>
          <p:cNvSpPr/>
          <p:nvPr/>
        </p:nvSpPr>
        <p:spPr>
          <a:xfrm>
            <a:off x="6402128" y="4069159"/>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Image processing and frame manipulation library.</a:t>
            </a:r>
            <a:endParaRPr lang="en-US" sz="1000" dirty="0"/>
          </a:p>
        </p:txBody>
      </p:sp>
      <p:sp>
        <p:nvSpPr>
          <p:cNvPr id="39" name="Shape 34"/>
          <p:cNvSpPr/>
          <p:nvPr/>
        </p:nvSpPr>
        <p:spPr>
          <a:xfrm>
            <a:off x="8946331" y="3141861"/>
            <a:ext cx="2590239" cy="1425873"/>
          </a:xfrm>
          <a:prstGeom prst="roundRect">
            <a:avLst>
              <a:gd name="adj" fmla="val 13919"/>
            </a:avLst>
          </a:prstGeom>
          <a:solidFill>
            <a:srgbClr val="E6F7FF"/>
          </a:solidFill>
          <a:ln w="6350">
            <a:solidFill>
              <a:srgbClr val="B3D5E4"/>
            </a:solidFill>
            <a:prstDash val="solid"/>
          </a:ln>
        </p:spPr>
      </p:sp>
      <p:sp>
        <p:nvSpPr>
          <p:cNvPr id="40" name="Shape 35"/>
          <p:cNvSpPr/>
          <p:nvPr/>
        </p:nvSpPr>
        <p:spPr>
          <a:xfrm>
            <a:off x="9084936" y="3280470"/>
            <a:ext cx="396865" cy="396875"/>
          </a:xfrm>
          <a:prstGeom prst="ellipse">
            <a:avLst/>
          </a:prstGeom>
          <a:solidFill>
            <a:srgbClr val="D4CCFA"/>
          </a:solidFill>
          <a:ln/>
        </p:spPr>
      </p:sp>
      <p:pic>
        <p:nvPicPr>
          <p:cNvPr id="4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94074" y="3389610"/>
            <a:ext cx="178589" cy="178594"/>
          </a:xfrm>
          <a:prstGeom prst="rect">
            <a:avLst/>
          </a:prstGeom>
        </p:spPr>
      </p:pic>
      <p:sp>
        <p:nvSpPr>
          <p:cNvPr id="42" name="Text 36"/>
          <p:cNvSpPr/>
          <p:nvPr/>
        </p:nvSpPr>
        <p:spPr>
          <a:xfrm>
            <a:off x="9084936" y="3769916"/>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YOLOv8</a:t>
            </a:r>
            <a:endParaRPr lang="en-US" sz="1300" dirty="0"/>
          </a:p>
        </p:txBody>
      </p:sp>
      <p:sp>
        <p:nvSpPr>
          <p:cNvPr id="43" name="Text 37"/>
          <p:cNvSpPr/>
          <p:nvPr/>
        </p:nvSpPr>
        <p:spPr>
          <a:xfrm>
            <a:off x="9084936" y="4069159"/>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State-of-the-art real-time object detection model.</a:t>
            </a:r>
            <a:endParaRPr lang="en-US" sz="1000" dirty="0"/>
          </a:p>
        </p:txBody>
      </p:sp>
      <p:sp>
        <p:nvSpPr>
          <p:cNvPr id="44" name="Shape 38"/>
          <p:cNvSpPr/>
          <p:nvPr/>
        </p:nvSpPr>
        <p:spPr>
          <a:xfrm>
            <a:off x="6263523" y="4660305"/>
            <a:ext cx="2590239" cy="1425873"/>
          </a:xfrm>
          <a:prstGeom prst="roundRect">
            <a:avLst>
              <a:gd name="adj" fmla="val 13919"/>
            </a:avLst>
          </a:prstGeom>
          <a:solidFill>
            <a:srgbClr val="E6F7FF"/>
          </a:solidFill>
          <a:ln w="6350">
            <a:solidFill>
              <a:srgbClr val="B3D5E4"/>
            </a:solidFill>
            <a:prstDash val="solid"/>
          </a:ln>
        </p:spPr>
      </p:sp>
      <p:sp>
        <p:nvSpPr>
          <p:cNvPr id="45" name="Shape 39"/>
          <p:cNvSpPr/>
          <p:nvPr/>
        </p:nvSpPr>
        <p:spPr>
          <a:xfrm>
            <a:off x="6402128" y="4798913"/>
            <a:ext cx="396865" cy="396875"/>
          </a:xfrm>
          <a:prstGeom prst="ellipse">
            <a:avLst/>
          </a:prstGeom>
          <a:solidFill>
            <a:srgbClr val="D4CCFA"/>
          </a:solidFill>
          <a:ln/>
        </p:spPr>
      </p:sp>
      <p:pic>
        <p:nvPicPr>
          <p:cNvPr id="4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1266" y="4908054"/>
            <a:ext cx="178589" cy="178594"/>
          </a:xfrm>
          <a:prstGeom prst="rect">
            <a:avLst/>
          </a:prstGeom>
        </p:spPr>
      </p:pic>
      <p:sp>
        <p:nvSpPr>
          <p:cNvPr id="47" name="Text 40"/>
          <p:cNvSpPr/>
          <p:nvPr/>
        </p:nvSpPr>
        <p:spPr>
          <a:xfrm>
            <a:off x="6402128" y="5288359"/>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MQTT / NumPy</a:t>
            </a:r>
            <a:endParaRPr lang="en-US" sz="1300" dirty="0"/>
          </a:p>
        </p:txBody>
      </p:sp>
      <p:sp>
        <p:nvSpPr>
          <p:cNvPr id="48" name="Text 41"/>
          <p:cNvSpPr/>
          <p:nvPr/>
        </p:nvSpPr>
        <p:spPr>
          <a:xfrm>
            <a:off x="6402128" y="5587603"/>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Lightweight IoT protocol + numerical computing.</a:t>
            </a:r>
            <a:endParaRPr lang="en-US" sz="1000" dirty="0"/>
          </a:p>
        </p:txBody>
      </p:sp>
      <p:sp>
        <p:nvSpPr>
          <p:cNvPr id="49" name="Shape 42"/>
          <p:cNvSpPr/>
          <p:nvPr/>
        </p:nvSpPr>
        <p:spPr>
          <a:xfrm>
            <a:off x="8946331" y="4660305"/>
            <a:ext cx="2590239" cy="1425873"/>
          </a:xfrm>
          <a:prstGeom prst="roundRect">
            <a:avLst>
              <a:gd name="adj" fmla="val 13919"/>
            </a:avLst>
          </a:prstGeom>
          <a:solidFill>
            <a:srgbClr val="E6F7FF"/>
          </a:solidFill>
          <a:ln w="6350">
            <a:solidFill>
              <a:srgbClr val="B3D5E4"/>
            </a:solidFill>
            <a:prstDash val="solid"/>
          </a:ln>
        </p:spPr>
      </p:sp>
      <p:sp>
        <p:nvSpPr>
          <p:cNvPr id="50" name="Shape 43"/>
          <p:cNvSpPr/>
          <p:nvPr/>
        </p:nvSpPr>
        <p:spPr>
          <a:xfrm>
            <a:off x="9084936" y="4798913"/>
            <a:ext cx="396865" cy="396875"/>
          </a:xfrm>
          <a:prstGeom prst="ellipse">
            <a:avLst/>
          </a:prstGeom>
          <a:solidFill>
            <a:srgbClr val="D4CCFA"/>
          </a:solidFill>
          <a:ln/>
        </p:spPr>
      </p:sp>
      <p:pic>
        <p:nvPicPr>
          <p:cNvPr id="5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94074" y="4908054"/>
            <a:ext cx="178589" cy="178594"/>
          </a:xfrm>
          <a:prstGeom prst="rect">
            <a:avLst/>
          </a:prstGeom>
        </p:spPr>
      </p:pic>
      <p:sp>
        <p:nvSpPr>
          <p:cNvPr id="52" name="Text 44"/>
          <p:cNvSpPr/>
          <p:nvPr/>
        </p:nvSpPr>
        <p:spPr>
          <a:xfrm>
            <a:off x="9084936" y="5288359"/>
            <a:ext cx="2313029"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Alexandria Medium" pitchFamily="34" charset="0"/>
                <a:ea typeface="Alexandria Medium" pitchFamily="34" charset="-122"/>
                <a:cs typeface="Alexandria Medium" pitchFamily="34" charset="-120"/>
              </a:rPr>
              <a:t>VS Code</a:t>
            </a:r>
            <a:endParaRPr lang="en-US" sz="1300" dirty="0"/>
          </a:p>
        </p:txBody>
      </p:sp>
      <p:sp>
        <p:nvSpPr>
          <p:cNvPr id="53" name="Text 45"/>
          <p:cNvSpPr/>
          <p:nvPr/>
        </p:nvSpPr>
        <p:spPr>
          <a:xfrm>
            <a:off x="9084936" y="5587603"/>
            <a:ext cx="2313029"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anrope" pitchFamily="34" charset="0"/>
                <a:ea typeface="Manrope" pitchFamily="34" charset="-122"/>
                <a:cs typeface="Manrope" pitchFamily="34" charset="-120"/>
              </a:rPr>
              <a:t>Development environment with remote SSH support.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30126"/>
            <a:ext cx="10868745" cy="544513"/>
          </a:xfrm>
          <a:prstGeom prst="rect">
            <a:avLst/>
          </a:prstGeom>
          <a:noFill/>
          <a:ln/>
        </p:spPr>
        <p:txBody>
          <a:bodyPr wrap="none" lIns="0" tIns="0" rIns="0" bIns="0" rtlCol="0" anchor="t"/>
          <a:lstStyle/>
          <a:p>
            <a:pPr marL="0" indent="0" algn="l">
              <a:lnSpc>
                <a:spcPct val="104000"/>
              </a:lnSpc>
              <a:buNone/>
            </a:pPr>
            <a:r>
              <a:rPr lang="en-US" sz="3400" dirty="0">
                <a:solidFill>
                  <a:srgbClr val="5B6E8C"/>
                </a:solidFill>
                <a:latin typeface="Alexandria Medium" pitchFamily="34" charset="0"/>
                <a:ea typeface="Alexandria Medium" pitchFamily="34" charset="-122"/>
                <a:cs typeface="Alexandria Medium" pitchFamily="34" charset="-120"/>
              </a:rPr>
              <a:t>Methodology &amp; Working Principle</a:t>
            </a:r>
            <a:endParaRPr lang="en-US" sz="3400" dirty="0"/>
          </a:p>
        </p:txBody>
      </p:sp>
      <p:pic>
        <p:nvPicPr>
          <p:cNvPr id="3" name="Image 0" descr="preencoded.png"/>
          <p:cNvPicPr>
            <a:picLocks noChangeAspect="1"/>
          </p:cNvPicPr>
          <p:nvPr/>
        </p:nvPicPr>
        <p:blipFill>
          <a:blip r:embed="rId3"/>
          <a:stretch>
            <a:fillRect/>
          </a:stretch>
        </p:blipFill>
        <p:spPr>
          <a:xfrm>
            <a:off x="835500" y="1395909"/>
            <a:ext cx="10520595" cy="3947914"/>
          </a:xfrm>
          <a:prstGeom prst="rect">
            <a:avLst/>
          </a:prstGeom>
        </p:spPr>
      </p:pic>
      <p:sp>
        <p:nvSpPr>
          <p:cNvPr id="4" name="Text 1"/>
          <p:cNvSpPr/>
          <p:nvPr/>
        </p:nvSpPr>
        <p:spPr>
          <a:xfrm>
            <a:off x="9336045" y="4232586"/>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Classify Objects</a:t>
            </a:r>
            <a:endParaRPr lang="en-US" sz="1900" dirty="0"/>
          </a:p>
        </p:txBody>
      </p:sp>
      <p:sp>
        <p:nvSpPr>
          <p:cNvPr id="5" name="Text 2"/>
          <p:cNvSpPr/>
          <p:nvPr/>
        </p:nvSpPr>
        <p:spPr>
          <a:xfrm>
            <a:off x="7336215" y="4385430"/>
            <a:ext cx="1586822" cy="305688"/>
          </a:xfrm>
          <a:prstGeom prst="rect">
            <a:avLst/>
          </a:prstGeom>
          <a:noFill/>
          <a:ln/>
        </p:spPr>
        <p:txBody>
          <a:bodyPr wrap="none" lIns="0" tIns="0" rIns="0" bIns="0" rtlCol="0" anchor="t"/>
          <a:lstStyle/>
          <a:p>
            <a:pPr marL="0" indent="0" algn="ctr">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Run YOLOv8</a:t>
            </a:r>
            <a:endParaRPr lang="en-US" sz="1900" dirty="0"/>
          </a:p>
        </p:txBody>
      </p:sp>
      <p:sp>
        <p:nvSpPr>
          <p:cNvPr id="6" name="Text 3"/>
          <p:cNvSpPr/>
          <p:nvPr/>
        </p:nvSpPr>
        <p:spPr>
          <a:xfrm>
            <a:off x="5347253" y="4232586"/>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Preprocess Frame</a:t>
            </a:r>
            <a:endParaRPr lang="en-US" sz="1900" dirty="0"/>
          </a:p>
        </p:txBody>
      </p:sp>
      <p:sp>
        <p:nvSpPr>
          <p:cNvPr id="7" name="Text 4"/>
          <p:cNvSpPr/>
          <p:nvPr/>
        </p:nvSpPr>
        <p:spPr>
          <a:xfrm>
            <a:off x="3358291" y="4232586"/>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Capture Video</a:t>
            </a:r>
            <a:endParaRPr lang="en-US" sz="1900" dirty="0"/>
          </a:p>
        </p:txBody>
      </p:sp>
      <p:sp>
        <p:nvSpPr>
          <p:cNvPr id="8" name="Text 5"/>
          <p:cNvSpPr/>
          <p:nvPr/>
        </p:nvSpPr>
        <p:spPr>
          <a:xfrm>
            <a:off x="1325854" y="4385430"/>
            <a:ext cx="1586822" cy="305688"/>
          </a:xfrm>
          <a:prstGeom prst="rect">
            <a:avLst/>
          </a:prstGeom>
          <a:noFill/>
          <a:ln/>
        </p:spPr>
        <p:txBody>
          <a:bodyPr wrap="none" lIns="0" tIns="0" rIns="0" bIns="0" rtlCol="0" anchor="t"/>
          <a:lstStyle/>
          <a:p>
            <a:pPr marL="0" indent="0" algn="ctr">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Start</a:t>
            </a:r>
            <a:endParaRPr lang="en-US" sz="1900" dirty="0"/>
          </a:p>
        </p:txBody>
      </p:sp>
      <p:sp>
        <p:nvSpPr>
          <p:cNvPr id="9" name="Text 6"/>
          <p:cNvSpPr/>
          <p:nvPr/>
        </p:nvSpPr>
        <p:spPr>
          <a:xfrm>
            <a:off x="661475" y="5524500"/>
            <a:ext cx="10868745"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5B6E8C"/>
                </a:solidFill>
                <a:latin typeface="Manrope" pitchFamily="34" charset="0"/>
                <a:ea typeface="Manrope" pitchFamily="34" charset="-122"/>
                <a:cs typeface="Manrope" pitchFamily="34" charset="-120"/>
              </a:rPr>
              <a:t>The camera captures a continuous video stream. Each frame is resized and normalized by OpenCV, then fed into the YOLOv8 model running on the Raspberry Pi. Detected objects are annotated with bounding boxes and confidence scores, and metadata is published to the IoT cloud dashboard in real time.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8DF3-E748-ED74-354A-D2A36CDAE1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899BAA-AA21-6496-802F-02F8B0AF8A26}"/>
              </a:ext>
            </a:extLst>
          </p:cNvPr>
          <p:cNvSpPr/>
          <p:nvPr/>
        </p:nvSpPr>
        <p:spPr>
          <a:xfrm>
            <a:off x="661475" y="520700"/>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5B6E8C"/>
                </a:solidFill>
                <a:latin typeface="Alexandria Medium" pitchFamily="34" charset="0"/>
                <a:ea typeface="Alexandria Medium" pitchFamily="34" charset="-122"/>
                <a:cs typeface="Alexandria Medium" pitchFamily="34" charset="-120"/>
              </a:rPr>
              <a:t>Expected Results</a:t>
            </a:r>
            <a:endParaRPr lang="en-US" sz="2700" dirty="0"/>
          </a:p>
        </p:txBody>
      </p:sp>
      <p:pic>
        <p:nvPicPr>
          <p:cNvPr id="3" name="Image 0" descr="preencoded.png">
            <a:extLst>
              <a:ext uri="{FF2B5EF4-FFF2-40B4-BE49-F238E27FC236}">
                <a16:creationId xmlns:a16="http://schemas.microsoft.com/office/drawing/2014/main" id="{1D164E14-0FF5-D41C-A793-8373129D5FA7}"/>
              </a:ext>
            </a:extLst>
          </p:cNvPr>
          <p:cNvPicPr>
            <a:picLocks noChangeAspect="1"/>
          </p:cNvPicPr>
          <p:nvPr/>
        </p:nvPicPr>
        <p:blipFill>
          <a:blip r:embed="rId3"/>
          <a:stretch>
            <a:fillRect/>
          </a:stretch>
        </p:blipFill>
        <p:spPr>
          <a:xfrm>
            <a:off x="661475" y="1221978"/>
            <a:ext cx="6946131" cy="3907234"/>
          </a:xfrm>
          <a:prstGeom prst="rect">
            <a:avLst/>
          </a:prstGeom>
        </p:spPr>
      </p:pic>
      <p:sp>
        <p:nvSpPr>
          <p:cNvPr id="4" name="Text 1">
            <a:extLst>
              <a:ext uri="{FF2B5EF4-FFF2-40B4-BE49-F238E27FC236}">
                <a16:creationId xmlns:a16="http://schemas.microsoft.com/office/drawing/2014/main" id="{AF7B0D12-78DB-0695-2D17-7D909B057B23}"/>
              </a:ext>
            </a:extLst>
          </p:cNvPr>
          <p:cNvSpPr/>
          <p:nvPr/>
        </p:nvSpPr>
        <p:spPr>
          <a:xfrm>
            <a:off x="7952482" y="2732385"/>
            <a:ext cx="3583989"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Detection Output</a:t>
            </a:r>
            <a:endParaRPr lang="en-US" sz="1350" dirty="0"/>
          </a:p>
        </p:txBody>
      </p:sp>
      <p:sp>
        <p:nvSpPr>
          <p:cNvPr id="5" name="Text 2">
            <a:extLst>
              <a:ext uri="{FF2B5EF4-FFF2-40B4-BE49-F238E27FC236}">
                <a16:creationId xmlns:a16="http://schemas.microsoft.com/office/drawing/2014/main" id="{35E1729D-A139-C6E2-E85F-7A8282D879F1}"/>
              </a:ext>
            </a:extLst>
          </p:cNvPr>
          <p:cNvSpPr/>
          <p:nvPr/>
        </p:nvSpPr>
        <p:spPr>
          <a:xfrm>
            <a:off x="7952482" y="3051175"/>
            <a:ext cx="3583989"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The system overlays colored bounding boxes on detected objects with class labels and confidence percentages.</a:t>
            </a:r>
            <a:endParaRPr lang="en-US" sz="1050" dirty="0"/>
          </a:p>
        </p:txBody>
      </p:sp>
      <p:sp>
        <p:nvSpPr>
          <p:cNvPr id="6" name="Shape 3">
            <a:extLst>
              <a:ext uri="{FF2B5EF4-FFF2-40B4-BE49-F238E27FC236}">
                <a16:creationId xmlns:a16="http://schemas.microsoft.com/office/drawing/2014/main" id="{985D5621-0A28-48EC-8603-D6298FA6923A}"/>
              </a:ext>
            </a:extLst>
          </p:cNvPr>
          <p:cNvSpPr/>
          <p:nvPr/>
        </p:nvSpPr>
        <p:spPr>
          <a:xfrm>
            <a:off x="661475" y="5358408"/>
            <a:ext cx="3554919" cy="978892"/>
          </a:xfrm>
          <a:prstGeom prst="roundRect">
            <a:avLst>
              <a:gd name="adj" fmla="val 21271"/>
            </a:avLst>
          </a:prstGeom>
          <a:solidFill>
            <a:srgbClr val="FFFFFF"/>
          </a:solidFill>
          <a:ln w="19050">
            <a:solidFill>
              <a:srgbClr val="B3D5E4"/>
            </a:solidFill>
            <a:prstDash val="solid"/>
          </a:ln>
        </p:spPr>
      </p:sp>
      <p:sp>
        <p:nvSpPr>
          <p:cNvPr id="7" name="Text 4">
            <a:extLst>
              <a:ext uri="{FF2B5EF4-FFF2-40B4-BE49-F238E27FC236}">
                <a16:creationId xmlns:a16="http://schemas.microsoft.com/office/drawing/2014/main" id="{E11C3DB6-FC0A-A80D-BD93-00A4DF1F10F3}"/>
              </a:ext>
            </a:extLst>
          </p:cNvPr>
          <p:cNvSpPr/>
          <p:nvPr/>
        </p:nvSpPr>
        <p:spPr>
          <a:xfrm>
            <a:off x="819328" y="5516265"/>
            <a:ext cx="3239213"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Multi-Object Detection</a:t>
            </a:r>
            <a:endParaRPr lang="en-US" sz="1350" dirty="0"/>
          </a:p>
        </p:txBody>
      </p:sp>
      <p:sp>
        <p:nvSpPr>
          <p:cNvPr id="8" name="Text 5">
            <a:extLst>
              <a:ext uri="{FF2B5EF4-FFF2-40B4-BE49-F238E27FC236}">
                <a16:creationId xmlns:a16="http://schemas.microsoft.com/office/drawing/2014/main" id="{9509148D-F391-2D1F-79B4-1F043EA61DB3}"/>
              </a:ext>
            </a:extLst>
          </p:cNvPr>
          <p:cNvSpPr/>
          <p:nvPr/>
        </p:nvSpPr>
        <p:spPr>
          <a:xfrm>
            <a:off x="819328" y="5794276"/>
            <a:ext cx="3239213"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Simultaneously detects persons, vehicles, animals, and everyday objects.</a:t>
            </a:r>
            <a:endParaRPr lang="en-US" sz="1050" dirty="0"/>
          </a:p>
        </p:txBody>
      </p:sp>
      <p:sp>
        <p:nvSpPr>
          <p:cNvPr id="9" name="Shape 6">
            <a:extLst>
              <a:ext uri="{FF2B5EF4-FFF2-40B4-BE49-F238E27FC236}">
                <a16:creationId xmlns:a16="http://schemas.microsoft.com/office/drawing/2014/main" id="{4C7E76C3-EA8D-994A-11D4-B5360B64C9C5}"/>
              </a:ext>
            </a:extLst>
          </p:cNvPr>
          <p:cNvSpPr/>
          <p:nvPr/>
        </p:nvSpPr>
        <p:spPr>
          <a:xfrm>
            <a:off x="4318289" y="5358408"/>
            <a:ext cx="3555018" cy="978892"/>
          </a:xfrm>
          <a:prstGeom prst="roundRect">
            <a:avLst>
              <a:gd name="adj" fmla="val 21271"/>
            </a:avLst>
          </a:prstGeom>
          <a:solidFill>
            <a:srgbClr val="FFFFFF"/>
          </a:solidFill>
          <a:ln w="19050">
            <a:solidFill>
              <a:srgbClr val="B3D5E4"/>
            </a:solidFill>
            <a:prstDash val="solid"/>
          </a:ln>
        </p:spPr>
      </p:sp>
      <p:sp>
        <p:nvSpPr>
          <p:cNvPr id="10" name="Text 7">
            <a:extLst>
              <a:ext uri="{FF2B5EF4-FFF2-40B4-BE49-F238E27FC236}">
                <a16:creationId xmlns:a16="http://schemas.microsoft.com/office/drawing/2014/main" id="{951E7E58-9988-59DA-BD25-973DC251498D}"/>
              </a:ext>
            </a:extLst>
          </p:cNvPr>
          <p:cNvSpPr/>
          <p:nvPr/>
        </p:nvSpPr>
        <p:spPr>
          <a:xfrm>
            <a:off x="4476142" y="5516265"/>
            <a:ext cx="3239312"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Confidence Scores</a:t>
            </a:r>
            <a:endParaRPr lang="en-US" sz="1350" dirty="0"/>
          </a:p>
        </p:txBody>
      </p:sp>
      <p:sp>
        <p:nvSpPr>
          <p:cNvPr id="11" name="Text 8">
            <a:extLst>
              <a:ext uri="{FF2B5EF4-FFF2-40B4-BE49-F238E27FC236}">
                <a16:creationId xmlns:a16="http://schemas.microsoft.com/office/drawing/2014/main" id="{647AAB47-ABDC-E1E0-68EC-3E8C8A065220}"/>
              </a:ext>
            </a:extLst>
          </p:cNvPr>
          <p:cNvSpPr/>
          <p:nvPr/>
        </p:nvSpPr>
        <p:spPr>
          <a:xfrm>
            <a:off x="4476142" y="5794276"/>
            <a:ext cx="3239312"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Each prediction includes a confidence value (0–100%) indicating detection certainty.</a:t>
            </a:r>
            <a:endParaRPr lang="en-US" sz="1050" dirty="0"/>
          </a:p>
        </p:txBody>
      </p:sp>
      <p:sp>
        <p:nvSpPr>
          <p:cNvPr id="12" name="Shape 9">
            <a:extLst>
              <a:ext uri="{FF2B5EF4-FFF2-40B4-BE49-F238E27FC236}">
                <a16:creationId xmlns:a16="http://schemas.microsoft.com/office/drawing/2014/main" id="{121B630E-E207-82E4-EF5E-98D8BB3E3056}"/>
              </a:ext>
            </a:extLst>
          </p:cNvPr>
          <p:cNvSpPr/>
          <p:nvPr/>
        </p:nvSpPr>
        <p:spPr>
          <a:xfrm>
            <a:off x="7975202" y="5358408"/>
            <a:ext cx="3554919" cy="978892"/>
          </a:xfrm>
          <a:prstGeom prst="roundRect">
            <a:avLst>
              <a:gd name="adj" fmla="val 21271"/>
            </a:avLst>
          </a:prstGeom>
          <a:solidFill>
            <a:srgbClr val="FFFFFF"/>
          </a:solidFill>
          <a:ln w="19050">
            <a:solidFill>
              <a:srgbClr val="B3D5E4"/>
            </a:solidFill>
            <a:prstDash val="solid"/>
          </a:ln>
        </p:spPr>
      </p:sp>
      <p:sp>
        <p:nvSpPr>
          <p:cNvPr id="13" name="Text 10">
            <a:extLst>
              <a:ext uri="{FF2B5EF4-FFF2-40B4-BE49-F238E27FC236}">
                <a16:creationId xmlns:a16="http://schemas.microsoft.com/office/drawing/2014/main" id="{263C0F42-63ED-93AF-6348-493078643DC5}"/>
              </a:ext>
            </a:extLst>
          </p:cNvPr>
          <p:cNvSpPr/>
          <p:nvPr/>
        </p:nvSpPr>
        <p:spPr>
          <a:xfrm>
            <a:off x="8133055" y="5516265"/>
            <a:ext cx="3239213"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Cloud Dashboard</a:t>
            </a:r>
            <a:endParaRPr lang="en-US" sz="1350" dirty="0"/>
          </a:p>
        </p:txBody>
      </p:sp>
      <p:sp>
        <p:nvSpPr>
          <p:cNvPr id="14" name="Text 11">
            <a:extLst>
              <a:ext uri="{FF2B5EF4-FFF2-40B4-BE49-F238E27FC236}">
                <a16:creationId xmlns:a16="http://schemas.microsoft.com/office/drawing/2014/main" id="{52C33E75-C470-1912-5236-3144BD93D5E3}"/>
              </a:ext>
            </a:extLst>
          </p:cNvPr>
          <p:cNvSpPr/>
          <p:nvPr/>
        </p:nvSpPr>
        <p:spPr>
          <a:xfrm>
            <a:off x="8133055" y="5794276"/>
            <a:ext cx="3239213"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Timestamped alerts and detection logs accessible remotely via web interface.</a:t>
            </a:r>
            <a:endParaRPr lang="en-US" sz="1050" dirty="0"/>
          </a:p>
        </p:txBody>
      </p:sp>
    </p:spTree>
    <p:extLst>
      <p:ext uri="{BB962C8B-B14F-4D97-AF65-F5344CB8AC3E}">
        <p14:creationId xmlns:p14="http://schemas.microsoft.com/office/powerpoint/2010/main" val="4046311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0700"/>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5B6E8C"/>
                </a:solidFill>
                <a:latin typeface="Alexandria Medium" pitchFamily="34" charset="0"/>
                <a:ea typeface="Alexandria Medium" pitchFamily="34" charset="-122"/>
                <a:cs typeface="Alexandria Medium" pitchFamily="34" charset="-120"/>
              </a:rPr>
              <a:t>Results (version 1 )</a:t>
            </a:r>
            <a:endParaRPr lang="en-US" sz="2700" dirty="0"/>
          </a:p>
        </p:txBody>
      </p:sp>
      <p:sp>
        <p:nvSpPr>
          <p:cNvPr id="4" name="Text 1"/>
          <p:cNvSpPr/>
          <p:nvPr/>
        </p:nvSpPr>
        <p:spPr>
          <a:xfrm>
            <a:off x="7952482" y="2732385"/>
            <a:ext cx="3583989"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Detection Output</a:t>
            </a:r>
            <a:endParaRPr lang="en-US" sz="1350" dirty="0"/>
          </a:p>
        </p:txBody>
      </p:sp>
      <p:sp>
        <p:nvSpPr>
          <p:cNvPr id="5" name="Text 2"/>
          <p:cNvSpPr/>
          <p:nvPr/>
        </p:nvSpPr>
        <p:spPr>
          <a:xfrm>
            <a:off x="7952482" y="3051175"/>
            <a:ext cx="3583989" cy="577751"/>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The system overlays colored bounding boxes on detected objects with class labels and confidence percentages.</a:t>
            </a:r>
            <a:endParaRPr lang="en-US" sz="1050" dirty="0"/>
          </a:p>
        </p:txBody>
      </p:sp>
      <p:sp>
        <p:nvSpPr>
          <p:cNvPr id="6" name="Shape 3"/>
          <p:cNvSpPr/>
          <p:nvPr/>
        </p:nvSpPr>
        <p:spPr>
          <a:xfrm>
            <a:off x="661475" y="5358408"/>
            <a:ext cx="3554919" cy="978892"/>
          </a:xfrm>
          <a:prstGeom prst="roundRect">
            <a:avLst>
              <a:gd name="adj" fmla="val 21271"/>
            </a:avLst>
          </a:prstGeom>
          <a:solidFill>
            <a:srgbClr val="FFFFFF"/>
          </a:solidFill>
          <a:ln w="19050">
            <a:solidFill>
              <a:srgbClr val="B3D5E4"/>
            </a:solidFill>
            <a:prstDash val="solid"/>
          </a:ln>
        </p:spPr>
      </p:sp>
      <p:sp>
        <p:nvSpPr>
          <p:cNvPr id="7" name="Text 4"/>
          <p:cNvSpPr/>
          <p:nvPr/>
        </p:nvSpPr>
        <p:spPr>
          <a:xfrm>
            <a:off x="819328" y="5516265"/>
            <a:ext cx="3239213"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Multi-Object Detection</a:t>
            </a:r>
            <a:endParaRPr lang="en-US" sz="1350" dirty="0"/>
          </a:p>
        </p:txBody>
      </p:sp>
      <p:sp>
        <p:nvSpPr>
          <p:cNvPr id="8" name="Text 5"/>
          <p:cNvSpPr/>
          <p:nvPr/>
        </p:nvSpPr>
        <p:spPr>
          <a:xfrm>
            <a:off x="819328" y="5794276"/>
            <a:ext cx="3239213"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Simultaneously detects persons, vehicles, animals, and everyday objects.</a:t>
            </a:r>
            <a:endParaRPr lang="en-US" sz="1050" dirty="0"/>
          </a:p>
        </p:txBody>
      </p:sp>
      <p:sp>
        <p:nvSpPr>
          <p:cNvPr id="9" name="Shape 6"/>
          <p:cNvSpPr/>
          <p:nvPr/>
        </p:nvSpPr>
        <p:spPr>
          <a:xfrm>
            <a:off x="4318289" y="5358408"/>
            <a:ext cx="3555018" cy="978892"/>
          </a:xfrm>
          <a:prstGeom prst="roundRect">
            <a:avLst>
              <a:gd name="adj" fmla="val 21271"/>
            </a:avLst>
          </a:prstGeom>
          <a:solidFill>
            <a:srgbClr val="FFFFFF"/>
          </a:solidFill>
          <a:ln w="19050">
            <a:solidFill>
              <a:srgbClr val="B3D5E4"/>
            </a:solidFill>
            <a:prstDash val="solid"/>
          </a:ln>
        </p:spPr>
      </p:sp>
      <p:sp>
        <p:nvSpPr>
          <p:cNvPr id="10" name="Text 7"/>
          <p:cNvSpPr/>
          <p:nvPr/>
        </p:nvSpPr>
        <p:spPr>
          <a:xfrm>
            <a:off x="4476142" y="5516265"/>
            <a:ext cx="3239312"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Confidence Scores</a:t>
            </a:r>
            <a:endParaRPr lang="en-US" sz="1350" dirty="0"/>
          </a:p>
        </p:txBody>
      </p:sp>
      <p:sp>
        <p:nvSpPr>
          <p:cNvPr id="11" name="Text 8"/>
          <p:cNvSpPr/>
          <p:nvPr/>
        </p:nvSpPr>
        <p:spPr>
          <a:xfrm>
            <a:off x="4476142" y="5794276"/>
            <a:ext cx="3239312"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Each prediction includes a confidence value (0–100%) indicating detection certainty.</a:t>
            </a:r>
            <a:endParaRPr lang="en-US" sz="1050" dirty="0"/>
          </a:p>
        </p:txBody>
      </p:sp>
      <p:sp>
        <p:nvSpPr>
          <p:cNvPr id="12" name="Shape 9"/>
          <p:cNvSpPr/>
          <p:nvPr/>
        </p:nvSpPr>
        <p:spPr>
          <a:xfrm>
            <a:off x="7975202" y="5358408"/>
            <a:ext cx="3554919" cy="978892"/>
          </a:xfrm>
          <a:prstGeom prst="roundRect">
            <a:avLst>
              <a:gd name="adj" fmla="val 21271"/>
            </a:avLst>
          </a:prstGeom>
          <a:solidFill>
            <a:srgbClr val="FFFFFF"/>
          </a:solidFill>
          <a:ln w="19050">
            <a:solidFill>
              <a:srgbClr val="B3D5E4"/>
            </a:solidFill>
            <a:prstDash val="solid"/>
          </a:ln>
        </p:spPr>
      </p:sp>
      <p:sp>
        <p:nvSpPr>
          <p:cNvPr id="13" name="Text 10"/>
          <p:cNvSpPr/>
          <p:nvPr/>
        </p:nvSpPr>
        <p:spPr>
          <a:xfrm>
            <a:off x="8133055" y="5516265"/>
            <a:ext cx="3239213" cy="216892"/>
          </a:xfrm>
          <a:prstGeom prst="rect">
            <a:avLst/>
          </a:prstGeom>
          <a:noFill/>
          <a:ln/>
        </p:spPr>
        <p:txBody>
          <a:bodyPr wrap="none" lIns="0" tIns="0" rIns="0" bIns="0" rtlCol="0" anchor="t"/>
          <a:lstStyle/>
          <a:p>
            <a:pPr marL="0" indent="0" algn="l">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Cloud Dashboard</a:t>
            </a:r>
            <a:endParaRPr lang="en-US" sz="1350" dirty="0"/>
          </a:p>
        </p:txBody>
      </p:sp>
      <p:sp>
        <p:nvSpPr>
          <p:cNvPr id="14" name="Text 11"/>
          <p:cNvSpPr/>
          <p:nvPr/>
        </p:nvSpPr>
        <p:spPr>
          <a:xfrm>
            <a:off x="8133055" y="5794276"/>
            <a:ext cx="3239213"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5B6E8C"/>
                </a:solidFill>
                <a:latin typeface="Manrope" pitchFamily="34" charset="0"/>
                <a:ea typeface="Manrope" pitchFamily="34" charset="-122"/>
                <a:cs typeface="Manrope" pitchFamily="34" charset="-120"/>
              </a:rPr>
              <a:t>Timestamped alerts and detection logs accessible remotely via web interface.</a:t>
            </a:r>
            <a:endParaRPr lang="en-US" sz="1050" dirty="0"/>
          </a:p>
        </p:txBody>
      </p:sp>
      <p:pic>
        <p:nvPicPr>
          <p:cNvPr id="16" name="Picture 15">
            <a:extLst>
              <a:ext uri="{FF2B5EF4-FFF2-40B4-BE49-F238E27FC236}">
                <a16:creationId xmlns:a16="http://schemas.microsoft.com/office/drawing/2014/main" id="{926C816F-2AA8-FC74-A38B-B101F0717379}"/>
              </a:ext>
            </a:extLst>
          </p:cNvPr>
          <p:cNvPicPr>
            <a:picLocks noChangeAspect="1"/>
          </p:cNvPicPr>
          <p:nvPr/>
        </p:nvPicPr>
        <p:blipFill>
          <a:blip r:embed="rId3"/>
          <a:stretch>
            <a:fillRect/>
          </a:stretch>
        </p:blipFill>
        <p:spPr>
          <a:xfrm>
            <a:off x="1926386" y="1076005"/>
            <a:ext cx="4336392" cy="39395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0ACF-450D-6F27-669C-3C33F36AE5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F62FE1-CA11-1465-81B1-3E7342DA067F}"/>
              </a:ext>
            </a:extLst>
          </p:cNvPr>
          <p:cNvSpPr/>
          <p:nvPr/>
        </p:nvSpPr>
        <p:spPr>
          <a:xfrm>
            <a:off x="661475" y="520700"/>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5B6E8C"/>
                </a:solidFill>
                <a:latin typeface="Alexandria Medium" pitchFamily="34" charset="0"/>
                <a:ea typeface="Alexandria Medium" pitchFamily="34" charset="-122"/>
                <a:cs typeface="Alexandria Medium" pitchFamily="34" charset="-120"/>
              </a:rPr>
              <a:t>Results (final version )</a:t>
            </a:r>
            <a:endParaRPr lang="en-US" sz="2700" dirty="0"/>
          </a:p>
        </p:txBody>
      </p:sp>
      <p:sp>
        <p:nvSpPr>
          <p:cNvPr id="4" name="Text 1">
            <a:extLst>
              <a:ext uri="{FF2B5EF4-FFF2-40B4-BE49-F238E27FC236}">
                <a16:creationId xmlns:a16="http://schemas.microsoft.com/office/drawing/2014/main" id="{CE5594CC-91BB-4067-0A32-B44114435E75}"/>
              </a:ext>
            </a:extLst>
          </p:cNvPr>
          <p:cNvSpPr/>
          <p:nvPr/>
        </p:nvSpPr>
        <p:spPr>
          <a:xfrm>
            <a:off x="7952482" y="2732385"/>
            <a:ext cx="3583989" cy="216892"/>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5" name="Text 2">
            <a:extLst>
              <a:ext uri="{FF2B5EF4-FFF2-40B4-BE49-F238E27FC236}">
                <a16:creationId xmlns:a16="http://schemas.microsoft.com/office/drawing/2014/main" id="{F1685868-EE5D-232B-BE13-CE1E7594E61D}"/>
              </a:ext>
            </a:extLst>
          </p:cNvPr>
          <p:cNvSpPr/>
          <p:nvPr/>
        </p:nvSpPr>
        <p:spPr>
          <a:xfrm>
            <a:off x="7952482" y="3051175"/>
            <a:ext cx="3583989" cy="577751"/>
          </a:xfrm>
          <a:prstGeom prst="rect">
            <a:avLst/>
          </a:prstGeom>
          <a:noFill/>
          <a:ln/>
        </p:spPr>
        <p:txBody>
          <a:bodyPr wrap="square" lIns="0" tIns="0" rIns="0" bIns="0" rtlCol="0" anchor="t">
            <a:normAutofit/>
          </a:bodyPr>
          <a:lstStyle/>
          <a:p>
            <a:pPr marL="0" indent="0" algn="l">
              <a:lnSpc>
                <a:spcPct val="116000"/>
              </a:lnSpc>
              <a:buNone/>
            </a:pPr>
            <a:endParaRPr lang="en-US" sz="1050" dirty="0"/>
          </a:p>
        </p:txBody>
      </p:sp>
      <p:sp>
        <p:nvSpPr>
          <p:cNvPr id="6" name="Shape 3">
            <a:extLst>
              <a:ext uri="{FF2B5EF4-FFF2-40B4-BE49-F238E27FC236}">
                <a16:creationId xmlns:a16="http://schemas.microsoft.com/office/drawing/2014/main" id="{8FBFE797-4F62-5EC8-35E5-C01C5399D462}"/>
              </a:ext>
            </a:extLst>
          </p:cNvPr>
          <p:cNvSpPr/>
          <p:nvPr/>
        </p:nvSpPr>
        <p:spPr>
          <a:xfrm>
            <a:off x="422695" y="5063706"/>
            <a:ext cx="3793700" cy="1273594"/>
          </a:xfrm>
          <a:prstGeom prst="roundRect">
            <a:avLst>
              <a:gd name="adj" fmla="val 21271"/>
            </a:avLst>
          </a:prstGeom>
          <a:solidFill>
            <a:srgbClr val="FFFFFF"/>
          </a:solidFill>
          <a:ln w="19050">
            <a:solidFill>
              <a:srgbClr val="B3D5E4"/>
            </a:solidFill>
            <a:prstDash val="solid"/>
          </a:ln>
        </p:spPr>
      </p:sp>
      <p:sp>
        <p:nvSpPr>
          <p:cNvPr id="7" name="Text 4">
            <a:extLst>
              <a:ext uri="{FF2B5EF4-FFF2-40B4-BE49-F238E27FC236}">
                <a16:creationId xmlns:a16="http://schemas.microsoft.com/office/drawing/2014/main" id="{2B58477F-517D-79E2-2D3B-2B2276BA73A7}"/>
              </a:ext>
            </a:extLst>
          </p:cNvPr>
          <p:cNvSpPr/>
          <p:nvPr/>
        </p:nvSpPr>
        <p:spPr>
          <a:xfrm>
            <a:off x="604587" y="5249962"/>
            <a:ext cx="3239213" cy="216892"/>
          </a:xfrm>
          <a:prstGeom prst="rect">
            <a:avLst/>
          </a:prstGeom>
          <a:noFill/>
          <a:ln/>
        </p:spPr>
        <p:txBody>
          <a:bodyPr wrap="none" lIns="0" tIns="0" rIns="0" bIns="0" rtlCol="0" anchor="t"/>
          <a:lstStyle/>
          <a:p>
            <a:pPr marL="0" indent="0" algn="l">
              <a:lnSpc>
                <a:spcPct val="104000"/>
              </a:lnSpc>
              <a:buNone/>
            </a:pPr>
            <a:r>
              <a:rPr lang="en-US" sz="2000" dirty="0">
                <a:solidFill>
                  <a:srgbClr val="5B6E8C"/>
                </a:solidFill>
                <a:latin typeface="Alexandria Medium" pitchFamily="34" charset="0"/>
                <a:cs typeface="Alexandria Medium" pitchFamily="34" charset="-120"/>
              </a:rPr>
              <a:t>Web Dashboard</a:t>
            </a:r>
            <a:endParaRPr lang="en-US" sz="2000" dirty="0"/>
          </a:p>
        </p:txBody>
      </p:sp>
      <p:sp>
        <p:nvSpPr>
          <p:cNvPr id="8" name="Text 5">
            <a:extLst>
              <a:ext uri="{FF2B5EF4-FFF2-40B4-BE49-F238E27FC236}">
                <a16:creationId xmlns:a16="http://schemas.microsoft.com/office/drawing/2014/main" id="{CC07F4B0-477C-5A1E-2FB8-1D54FCBADDFD}"/>
              </a:ext>
            </a:extLst>
          </p:cNvPr>
          <p:cNvSpPr/>
          <p:nvPr/>
        </p:nvSpPr>
        <p:spPr>
          <a:xfrm>
            <a:off x="621011" y="5609290"/>
            <a:ext cx="3476535" cy="662114"/>
          </a:xfrm>
          <a:prstGeom prst="rect">
            <a:avLst/>
          </a:prstGeom>
          <a:noFill/>
          <a:ln/>
        </p:spPr>
        <p:txBody>
          <a:bodyPr wrap="square" lIns="0" tIns="0" rIns="0" bIns="0" rtlCol="0" anchor="t">
            <a:normAutofit/>
          </a:bodyPr>
          <a:lstStyle/>
          <a:p>
            <a:pPr marL="0" indent="0" algn="l">
              <a:lnSpc>
                <a:spcPct val="116000"/>
              </a:lnSpc>
              <a:buNone/>
            </a:pPr>
            <a:r>
              <a:rPr lang="en-US" sz="1100" dirty="0">
                <a:solidFill>
                  <a:srgbClr val="5B6E8C"/>
                </a:solidFill>
                <a:latin typeface="Manrope" pitchFamily="34" charset="0"/>
                <a:ea typeface="Manrope" pitchFamily="34" charset="-122"/>
                <a:cs typeface="Manrope" pitchFamily="34" charset="-120"/>
              </a:rPr>
              <a:t>Provides a centralized real-time interface for live camera feeds, object detection, face recognition, system status, and security events.</a:t>
            </a:r>
            <a:endParaRPr lang="en-US" sz="1100" dirty="0"/>
          </a:p>
        </p:txBody>
      </p:sp>
      <p:sp>
        <p:nvSpPr>
          <p:cNvPr id="9" name="Shape 6">
            <a:extLst>
              <a:ext uri="{FF2B5EF4-FFF2-40B4-BE49-F238E27FC236}">
                <a16:creationId xmlns:a16="http://schemas.microsoft.com/office/drawing/2014/main" id="{CDC6270B-E4AC-70F2-AE24-F90D05B4F849}"/>
              </a:ext>
            </a:extLst>
          </p:cNvPr>
          <p:cNvSpPr/>
          <p:nvPr/>
        </p:nvSpPr>
        <p:spPr>
          <a:xfrm>
            <a:off x="4318289" y="5063706"/>
            <a:ext cx="3555018" cy="1273594"/>
          </a:xfrm>
          <a:prstGeom prst="roundRect">
            <a:avLst>
              <a:gd name="adj" fmla="val 21271"/>
            </a:avLst>
          </a:prstGeom>
          <a:solidFill>
            <a:srgbClr val="FFFFFF"/>
          </a:solidFill>
          <a:ln w="19050">
            <a:solidFill>
              <a:srgbClr val="B3D5E4"/>
            </a:solidFill>
            <a:prstDash val="solid"/>
          </a:ln>
        </p:spPr>
      </p:sp>
      <p:sp>
        <p:nvSpPr>
          <p:cNvPr id="10" name="Text 7">
            <a:extLst>
              <a:ext uri="{FF2B5EF4-FFF2-40B4-BE49-F238E27FC236}">
                <a16:creationId xmlns:a16="http://schemas.microsoft.com/office/drawing/2014/main" id="{28D2D9AF-BAF1-8D60-7637-56C98A2AE1DC}"/>
              </a:ext>
            </a:extLst>
          </p:cNvPr>
          <p:cNvSpPr/>
          <p:nvPr/>
        </p:nvSpPr>
        <p:spPr>
          <a:xfrm>
            <a:off x="4476142" y="5249962"/>
            <a:ext cx="3239312" cy="216892"/>
          </a:xfrm>
          <a:prstGeom prst="rect">
            <a:avLst/>
          </a:prstGeom>
          <a:noFill/>
          <a:ln/>
        </p:spPr>
        <p:txBody>
          <a:bodyPr wrap="none" lIns="0" tIns="0" rIns="0" bIns="0" rtlCol="0" anchor="t"/>
          <a:lstStyle/>
          <a:p>
            <a:pPr marL="0" indent="0" algn="l">
              <a:lnSpc>
                <a:spcPct val="104000"/>
              </a:lnSpc>
              <a:buNone/>
            </a:pPr>
            <a:r>
              <a:rPr lang="en-US" sz="2000" dirty="0">
                <a:solidFill>
                  <a:srgbClr val="5B6E8C"/>
                </a:solidFill>
                <a:latin typeface="Alexandria Medium" pitchFamily="34" charset="0"/>
                <a:ea typeface="Alexandria Medium" pitchFamily="34" charset="-122"/>
                <a:cs typeface="Alexandria Medium" pitchFamily="34" charset="-120"/>
              </a:rPr>
              <a:t>Intrusion Notification</a:t>
            </a:r>
            <a:endParaRPr lang="en-US" sz="2000" dirty="0"/>
          </a:p>
        </p:txBody>
      </p:sp>
      <p:sp>
        <p:nvSpPr>
          <p:cNvPr id="11" name="Text 8">
            <a:extLst>
              <a:ext uri="{FF2B5EF4-FFF2-40B4-BE49-F238E27FC236}">
                <a16:creationId xmlns:a16="http://schemas.microsoft.com/office/drawing/2014/main" id="{ED39840D-2EDD-A6EB-EA84-759EE41C4B5B}"/>
              </a:ext>
            </a:extLst>
          </p:cNvPr>
          <p:cNvSpPr/>
          <p:nvPr/>
        </p:nvSpPr>
        <p:spPr>
          <a:xfrm>
            <a:off x="4476142" y="5562915"/>
            <a:ext cx="3239312" cy="754863"/>
          </a:xfrm>
          <a:prstGeom prst="rect">
            <a:avLst/>
          </a:prstGeom>
          <a:noFill/>
          <a:ln/>
        </p:spPr>
        <p:txBody>
          <a:bodyPr wrap="square" lIns="0" tIns="0" rIns="0" bIns="0" rtlCol="0" anchor="t">
            <a:normAutofit/>
          </a:bodyPr>
          <a:lstStyle/>
          <a:p>
            <a:pPr marL="0" indent="0" algn="l">
              <a:lnSpc>
                <a:spcPct val="116000"/>
              </a:lnSpc>
              <a:buNone/>
            </a:pPr>
            <a:r>
              <a:rPr lang="en-US" sz="1100" dirty="0">
                <a:solidFill>
                  <a:srgbClr val="5B6E8C"/>
                </a:solidFill>
                <a:latin typeface="Manrope" pitchFamily="34" charset="0"/>
                <a:ea typeface="Manrope" pitchFamily="34" charset="-122"/>
                <a:cs typeface="Manrope" pitchFamily="34" charset="-120"/>
              </a:rPr>
              <a:t>Automatically generates security alerts when an unknown person enters a configured secured zone, including detection details and timestamps.</a:t>
            </a:r>
            <a:endParaRPr lang="en-US" sz="1100" dirty="0"/>
          </a:p>
        </p:txBody>
      </p:sp>
      <p:sp>
        <p:nvSpPr>
          <p:cNvPr id="12" name="Shape 9">
            <a:extLst>
              <a:ext uri="{FF2B5EF4-FFF2-40B4-BE49-F238E27FC236}">
                <a16:creationId xmlns:a16="http://schemas.microsoft.com/office/drawing/2014/main" id="{CBCD93FB-5E85-EB71-8BA9-A2336D10A54A}"/>
              </a:ext>
            </a:extLst>
          </p:cNvPr>
          <p:cNvSpPr/>
          <p:nvPr/>
        </p:nvSpPr>
        <p:spPr>
          <a:xfrm>
            <a:off x="7975202" y="5076318"/>
            <a:ext cx="3554919" cy="1273594"/>
          </a:xfrm>
          <a:prstGeom prst="roundRect">
            <a:avLst>
              <a:gd name="adj" fmla="val 21271"/>
            </a:avLst>
          </a:prstGeom>
          <a:solidFill>
            <a:srgbClr val="FFFFFF"/>
          </a:solidFill>
          <a:ln w="19050">
            <a:solidFill>
              <a:srgbClr val="B3D5E4"/>
            </a:solidFill>
            <a:prstDash val="solid"/>
          </a:ln>
        </p:spPr>
      </p:sp>
      <p:sp>
        <p:nvSpPr>
          <p:cNvPr id="13" name="Text 10">
            <a:extLst>
              <a:ext uri="{FF2B5EF4-FFF2-40B4-BE49-F238E27FC236}">
                <a16:creationId xmlns:a16="http://schemas.microsoft.com/office/drawing/2014/main" id="{2C9CA0E0-39E2-A39E-8B71-EBE8AA0E18B3}"/>
              </a:ext>
            </a:extLst>
          </p:cNvPr>
          <p:cNvSpPr/>
          <p:nvPr/>
        </p:nvSpPr>
        <p:spPr>
          <a:xfrm>
            <a:off x="8235048" y="5180807"/>
            <a:ext cx="3239213" cy="216892"/>
          </a:xfrm>
          <a:prstGeom prst="rect">
            <a:avLst/>
          </a:prstGeom>
          <a:noFill/>
          <a:ln/>
        </p:spPr>
        <p:txBody>
          <a:bodyPr wrap="none" lIns="0" tIns="0" rIns="0" bIns="0" rtlCol="0" anchor="t"/>
          <a:lstStyle/>
          <a:p>
            <a:pPr marL="0" indent="0" algn="l">
              <a:lnSpc>
                <a:spcPct val="104000"/>
              </a:lnSpc>
              <a:buNone/>
            </a:pPr>
            <a:r>
              <a:rPr lang="en-US" sz="2000" dirty="0">
                <a:solidFill>
                  <a:srgbClr val="5B6E8C"/>
                </a:solidFill>
                <a:latin typeface="Alexandria Medium" pitchFamily="34" charset="0"/>
                <a:ea typeface="Alexandria Medium" pitchFamily="34" charset="-122"/>
                <a:cs typeface="Alexandria Medium" pitchFamily="34" charset="-120"/>
              </a:rPr>
              <a:t>Surveillance</a:t>
            </a:r>
            <a:r>
              <a:rPr lang="en-US" sz="1350" dirty="0">
                <a:solidFill>
                  <a:srgbClr val="5B6E8C"/>
                </a:solidFill>
                <a:latin typeface="Alexandria Medium" pitchFamily="34" charset="0"/>
                <a:ea typeface="Alexandria Medium" pitchFamily="34" charset="-122"/>
                <a:cs typeface="Alexandria Medium" pitchFamily="34" charset="-120"/>
              </a:rPr>
              <a:t> </a:t>
            </a:r>
            <a:r>
              <a:rPr lang="en-US" sz="2000" dirty="0">
                <a:solidFill>
                  <a:srgbClr val="5B6E8C"/>
                </a:solidFill>
                <a:latin typeface="Alexandria Medium" pitchFamily="34" charset="0"/>
                <a:ea typeface="Alexandria Medium" pitchFamily="34" charset="-122"/>
                <a:cs typeface="Alexandria Medium" pitchFamily="34" charset="-120"/>
              </a:rPr>
              <a:t>Monitoring</a:t>
            </a:r>
            <a:endParaRPr lang="en-US" sz="1350" dirty="0"/>
          </a:p>
        </p:txBody>
      </p:sp>
      <p:sp>
        <p:nvSpPr>
          <p:cNvPr id="14" name="Text 11">
            <a:extLst>
              <a:ext uri="{FF2B5EF4-FFF2-40B4-BE49-F238E27FC236}">
                <a16:creationId xmlns:a16="http://schemas.microsoft.com/office/drawing/2014/main" id="{9223602E-FDDB-ED11-D48A-21C95B6EC413}"/>
              </a:ext>
            </a:extLst>
          </p:cNvPr>
          <p:cNvSpPr/>
          <p:nvPr/>
        </p:nvSpPr>
        <p:spPr>
          <a:xfrm>
            <a:off x="8124869" y="5543743"/>
            <a:ext cx="3239213" cy="729280"/>
          </a:xfrm>
          <a:prstGeom prst="rect">
            <a:avLst/>
          </a:prstGeom>
          <a:noFill/>
          <a:ln/>
        </p:spPr>
        <p:txBody>
          <a:bodyPr wrap="square" lIns="0" tIns="0" rIns="0" bIns="0" rtlCol="0" anchor="t">
            <a:normAutofit fontScale="92500" lnSpcReduction="10000"/>
          </a:bodyPr>
          <a:lstStyle/>
          <a:p>
            <a:pPr marL="0" indent="0" algn="l">
              <a:lnSpc>
                <a:spcPct val="116000"/>
              </a:lnSpc>
              <a:buNone/>
            </a:pPr>
            <a:r>
              <a:rPr lang="en-US" sz="1200" dirty="0">
                <a:solidFill>
                  <a:srgbClr val="5B6E8C"/>
                </a:solidFill>
                <a:latin typeface="Manrope" pitchFamily="34" charset="0"/>
                <a:ea typeface="Manrope" pitchFamily="34" charset="-122"/>
                <a:cs typeface="Manrope" pitchFamily="34" charset="-120"/>
              </a:rPr>
              <a:t>Enables continuous AI-powered monitoring, combining object detection and face recognition to observe and identify activity within the monitored area.</a:t>
            </a:r>
            <a:endParaRPr lang="en-US" sz="1200" dirty="0"/>
          </a:p>
        </p:txBody>
      </p:sp>
      <p:pic>
        <p:nvPicPr>
          <p:cNvPr id="15" name="Picture 14">
            <a:extLst>
              <a:ext uri="{FF2B5EF4-FFF2-40B4-BE49-F238E27FC236}">
                <a16:creationId xmlns:a16="http://schemas.microsoft.com/office/drawing/2014/main" id="{A01BA009-B976-3E0C-B741-91277AC9F45C}"/>
              </a:ext>
            </a:extLst>
          </p:cNvPr>
          <p:cNvPicPr>
            <a:picLocks noChangeAspect="1"/>
          </p:cNvPicPr>
          <p:nvPr/>
        </p:nvPicPr>
        <p:blipFill>
          <a:blip r:embed="rId3"/>
          <a:stretch>
            <a:fillRect/>
          </a:stretch>
        </p:blipFill>
        <p:spPr>
          <a:xfrm>
            <a:off x="7873307" y="829795"/>
            <a:ext cx="3332574" cy="4022072"/>
          </a:xfrm>
          <a:prstGeom prst="rect">
            <a:avLst/>
          </a:prstGeom>
        </p:spPr>
      </p:pic>
      <p:pic>
        <p:nvPicPr>
          <p:cNvPr id="18" name="Picture 17">
            <a:extLst>
              <a:ext uri="{FF2B5EF4-FFF2-40B4-BE49-F238E27FC236}">
                <a16:creationId xmlns:a16="http://schemas.microsoft.com/office/drawing/2014/main" id="{0F416AD5-2B1F-CC43-931C-FB6896EB0AD2}"/>
              </a:ext>
            </a:extLst>
          </p:cNvPr>
          <p:cNvPicPr>
            <a:picLocks noChangeAspect="1"/>
          </p:cNvPicPr>
          <p:nvPr/>
        </p:nvPicPr>
        <p:blipFill>
          <a:blip r:embed="rId4"/>
          <a:stretch>
            <a:fillRect/>
          </a:stretch>
        </p:blipFill>
        <p:spPr>
          <a:xfrm>
            <a:off x="655529" y="1124843"/>
            <a:ext cx="6376542" cy="3575786"/>
          </a:xfrm>
          <a:prstGeom prst="rect">
            <a:avLst/>
          </a:prstGeom>
        </p:spPr>
      </p:pic>
    </p:spTree>
    <p:extLst>
      <p:ext uri="{BB962C8B-B14F-4D97-AF65-F5344CB8AC3E}">
        <p14:creationId xmlns:p14="http://schemas.microsoft.com/office/powerpoint/2010/main" val="1284146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94902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5B6E8C"/>
                </a:solidFill>
                <a:latin typeface="Alexandria Medium" pitchFamily="34" charset="0"/>
                <a:ea typeface="Alexandria Medium" pitchFamily="34" charset="-122"/>
                <a:cs typeface="Alexandria Medium" pitchFamily="34" charset="-120"/>
              </a:rPr>
              <a:t>Applications</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17700"/>
            <a:ext cx="378014" cy="378023"/>
          </a:xfrm>
          <a:prstGeom prst="rect">
            <a:avLst/>
          </a:prstGeom>
        </p:spPr>
      </p:pic>
      <p:sp>
        <p:nvSpPr>
          <p:cNvPr id="4" name="Text 1"/>
          <p:cNvSpPr/>
          <p:nvPr/>
        </p:nvSpPr>
        <p:spPr>
          <a:xfrm>
            <a:off x="1275723" y="1982589"/>
            <a:ext cx="4701958"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Smart Surveillance</a:t>
            </a:r>
            <a:endParaRPr lang="en-US" sz="1850" dirty="0"/>
          </a:p>
        </p:txBody>
      </p:sp>
      <p:sp>
        <p:nvSpPr>
          <p:cNvPr id="5" name="Text 2"/>
          <p:cNvSpPr/>
          <p:nvPr/>
        </p:nvSpPr>
        <p:spPr>
          <a:xfrm>
            <a:off x="1275723" y="2391271"/>
            <a:ext cx="470195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Automated intrusion detection for homes and enterprises.</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3915" y="1917700"/>
            <a:ext cx="378014" cy="378023"/>
          </a:xfrm>
          <a:prstGeom prst="rect">
            <a:avLst/>
          </a:prstGeom>
        </p:spPr>
      </p:pic>
      <p:sp>
        <p:nvSpPr>
          <p:cNvPr id="7" name="Text 3"/>
          <p:cNvSpPr/>
          <p:nvPr/>
        </p:nvSpPr>
        <p:spPr>
          <a:xfrm>
            <a:off x="6828163" y="1982589"/>
            <a:ext cx="4702057"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Traffic Monitoring</a:t>
            </a:r>
            <a:endParaRPr lang="en-US" sz="1850" dirty="0"/>
          </a:p>
        </p:txBody>
      </p:sp>
      <p:sp>
        <p:nvSpPr>
          <p:cNvPr id="8" name="Text 4"/>
          <p:cNvSpPr/>
          <p:nvPr/>
        </p:nvSpPr>
        <p:spPr>
          <a:xfrm>
            <a:off x="6828163" y="2391271"/>
            <a:ext cx="470205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Vehicle counting, congestion analysis, and incident detection.</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374132"/>
            <a:ext cx="378014" cy="378023"/>
          </a:xfrm>
          <a:prstGeom prst="rect">
            <a:avLst/>
          </a:prstGeom>
        </p:spPr>
      </p:pic>
      <p:sp>
        <p:nvSpPr>
          <p:cNvPr id="10" name="Text 5"/>
          <p:cNvSpPr/>
          <p:nvPr/>
        </p:nvSpPr>
        <p:spPr>
          <a:xfrm>
            <a:off x="1275723" y="3439021"/>
            <a:ext cx="4701958"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Industrial Automation</a:t>
            </a:r>
            <a:endParaRPr lang="en-US" sz="1850" dirty="0"/>
          </a:p>
        </p:txBody>
      </p:sp>
      <p:sp>
        <p:nvSpPr>
          <p:cNvPr id="11" name="Text 6"/>
          <p:cNvSpPr/>
          <p:nvPr/>
        </p:nvSpPr>
        <p:spPr>
          <a:xfrm>
            <a:off x="1275723" y="3847703"/>
            <a:ext cx="470195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Quality inspection, worker safety, and assembly line monitoring.</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3915" y="3374132"/>
            <a:ext cx="378014" cy="378023"/>
          </a:xfrm>
          <a:prstGeom prst="rect">
            <a:avLst/>
          </a:prstGeom>
        </p:spPr>
      </p:pic>
      <p:sp>
        <p:nvSpPr>
          <p:cNvPr id="13" name="Text 7"/>
          <p:cNvSpPr/>
          <p:nvPr/>
        </p:nvSpPr>
        <p:spPr>
          <a:xfrm>
            <a:off x="6828163" y="3439021"/>
            <a:ext cx="4702057"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Retail Analytics</a:t>
            </a:r>
            <a:endParaRPr lang="en-US" sz="1850" dirty="0"/>
          </a:p>
        </p:txBody>
      </p:sp>
      <p:sp>
        <p:nvSpPr>
          <p:cNvPr id="14" name="Text 8"/>
          <p:cNvSpPr/>
          <p:nvPr/>
        </p:nvSpPr>
        <p:spPr>
          <a:xfrm>
            <a:off x="6828163" y="3847703"/>
            <a:ext cx="470205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Customer flow tracking, shelf monitoring, and behavior analysis.</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830564"/>
            <a:ext cx="378014" cy="378023"/>
          </a:xfrm>
          <a:prstGeom prst="rect">
            <a:avLst/>
          </a:prstGeom>
        </p:spPr>
      </p:pic>
      <p:sp>
        <p:nvSpPr>
          <p:cNvPr id="16" name="Text 9"/>
          <p:cNvSpPr/>
          <p:nvPr/>
        </p:nvSpPr>
        <p:spPr>
          <a:xfrm>
            <a:off x="1275723" y="4895453"/>
            <a:ext cx="4701958"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Agriculture</a:t>
            </a:r>
            <a:endParaRPr lang="en-US" sz="1850" dirty="0"/>
          </a:p>
        </p:txBody>
      </p:sp>
      <p:sp>
        <p:nvSpPr>
          <p:cNvPr id="17" name="Text 10"/>
          <p:cNvSpPr/>
          <p:nvPr/>
        </p:nvSpPr>
        <p:spPr>
          <a:xfrm>
            <a:off x="1275723" y="5304135"/>
            <a:ext cx="470195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Crop health monitoring, pest detection, and yield estimation.</a:t>
            </a:r>
            <a:endParaRPr lang="en-US" sz="14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3915" y="4830564"/>
            <a:ext cx="378014" cy="378023"/>
          </a:xfrm>
          <a:prstGeom prst="rect">
            <a:avLst/>
          </a:prstGeom>
        </p:spPr>
      </p:pic>
      <p:sp>
        <p:nvSpPr>
          <p:cNvPr id="19" name="Text 11"/>
          <p:cNvSpPr/>
          <p:nvPr/>
        </p:nvSpPr>
        <p:spPr>
          <a:xfrm>
            <a:off x="6828163" y="4895453"/>
            <a:ext cx="4702057" cy="295275"/>
          </a:xfrm>
          <a:prstGeom prst="rect">
            <a:avLst/>
          </a:prstGeom>
          <a:noFill/>
          <a:ln/>
        </p:spPr>
        <p:txBody>
          <a:bodyPr wrap="none" lIns="0" tIns="0" rIns="0" bIns="0" rtlCol="0" anchor="t"/>
          <a:lstStyle/>
          <a:p>
            <a:pPr marL="0" indent="0" algn="l">
              <a:lnSpc>
                <a:spcPct val="104000"/>
              </a:lnSpc>
              <a:buNone/>
            </a:pPr>
            <a:r>
              <a:rPr lang="en-US" sz="1850" dirty="0">
                <a:solidFill>
                  <a:srgbClr val="5B6E8C"/>
                </a:solidFill>
                <a:latin typeface="Alexandria Medium" pitchFamily="34" charset="0"/>
                <a:ea typeface="Alexandria Medium" pitchFamily="34" charset="-122"/>
                <a:cs typeface="Alexandria Medium" pitchFamily="34" charset="-120"/>
              </a:rPr>
              <a:t>Smart Cities &amp; Home Security</a:t>
            </a:r>
            <a:endParaRPr lang="en-US" sz="1850" dirty="0"/>
          </a:p>
        </p:txBody>
      </p:sp>
      <p:sp>
        <p:nvSpPr>
          <p:cNvPr id="20" name="Text 12"/>
          <p:cNvSpPr/>
          <p:nvPr/>
        </p:nvSpPr>
        <p:spPr>
          <a:xfrm>
            <a:off x="6828163" y="5304135"/>
            <a:ext cx="470205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6E8C"/>
                </a:solidFill>
                <a:latin typeface="Manrope" pitchFamily="34" charset="0"/>
                <a:ea typeface="Manrope" pitchFamily="34" charset="-122"/>
                <a:cs typeface="Manrope" pitchFamily="34" charset="-120"/>
              </a:rPr>
              <a:t>Integrated urban monitoring and residential safety systems.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853182"/>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5B6E8C"/>
                </a:solidFill>
                <a:latin typeface="Alexandria Medium" pitchFamily="34" charset="0"/>
                <a:ea typeface="Alexandria Medium" pitchFamily="34" charset="-122"/>
                <a:cs typeface="Alexandria Medium" pitchFamily="34" charset="-120"/>
              </a:rPr>
              <a:t>Advantages, Future Scope &amp; Conclusion</a:t>
            </a:r>
            <a:endParaRPr lang="en-US" sz="3150" dirty="0"/>
          </a:p>
        </p:txBody>
      </p:sp>
      <p:sp>
        <p:nvSpPr>
          <p:cNvPr id="3" name="Text 1"/>
          <p:cNvSpPr/>
          <p:nvPr/>
        </p:nvSpPr>
        <p:spPr>
          <a:xfrm>
            <a:off x="661475" y="1696541"/>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5B6E8C"/>
                </a:solidFill>
                <a:latin typeface="Alexandria Medium" pitchFamily="34" charset="0"/>
                <a:ea typeface="Alexandria Medium" pitchFamily="34" charset="-122"/>
                <a:cs typeface="Alexandria Medium" pitchFamily="34" charset="-120"/>
              </a:rPr>
              <a:t>Key Advantages</a:t>
            </a:r>
            <a:endParaRPr lang="en-US" sz="1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699" y="2109043"/>
            <a:ext cx="240996" cy="241002"/>
          </a:xfrm>
          <a:prstGeom prst="rect">
            <a:avLst/>
          </a:prstGeom>
        </p:spPr>
      </p:pic>
      <p:sp>
        <p:nvSpPr>
          <p:cNvPr id="5" name="Text 2"/>
          <p:cNvSpPr/>
          <p:nvPr/>
        </p:nvSpPr>
        <p:spPr>
          <a:xfrm>
            <a:off x="1183551" y="2101155"/>
            <a:ext cx="4716345" cy="237728"/>
          </a:xfrm>
          <a:prstGeom prst="rect">
            <a:avLst/>
          </a:prstGeom>
          <a:noFill/>
          <a:ln/>
        </p:spPr>
        <p:txBody>
          <a:bodyPr wrap="none" lIns="0" tIns="0" rIns="0" bIns="0" rtlCol="0" anchor="t"/>
          <a:lstStyle/>
          <a:p>
            <a:pPr marL="0" indent="0" algn="l">
              <a:lnSpc>
                <a:spcPct val="123000"/>
              </a:lnSpc>
              <a:buNone/>
            </a:pPr>
            <a:r>
              <a:rPr lang="en-US" sz="1250" b="1" dirty="0">
                <a:solidFill>
                  <a:srgbClr val="5B6E8C"/>
                </a:solidFill>
                <a:latin typeface="Manrope Bold" pitchFamily="34" charset="0"/>
                <a:ea typeface="Manrope Bold" pitchFamily="34" charset="-122"/>
                <a:cs typeface="Manrope Bold" pitchFamily="34" charset="-120"/>
              </a:rPr>
              <a:t>Low Cost</a:t>
            </a:r>
            <a:r>
              <a:rPr lang="en-US" sz="1250" dirty="0">
                <a:solidFill>
                  <a:srgbClr val="5B6E8C"/>
                </a:solidFill>
                <a:latin typeface="Manrope" pitchFamily="34" charset="0"/>
                <a:ea typeface="Manrope" pitchFamily="34" charset="-122"/>
                <a:cs typeface="Manrope" pitchFamily="34" charset="-120"/>
              </a:rPr>
              <a:t> — Raspberry Pi provides affordable edge compute.</a:t>
            </a:r>
            <a:endParaRPr lang="en-US" sz="12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699" y="2872036"/>
            <a:ext cx="240996" cy="241002"/>
          </a:xfrm>
          <a:prstGeom prst="rect">
            <a:avLst/>
          </a:prstGeom>
        </p:spPr>
      </p:pic>
      <p:sp>
        <p:nvSpPr>
          <p:cNvPr id="7" name="Text 3"/>
          <p:cNvSpPr/>
          <p:nvPr/>
        </p:nvSpPr>
        <p:spPr>
          <a:xfrm>
            <a:off x="1183551" y="2864148"/>
            <a:ext cx="4716345" cy="475456"/>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5B6E8C"/>
                </a:solidFill>
                <a:latin typeface="Manrope Bold" pitchFamily="34" charset="0"/>
                <a:ea typeface="Manrope Bold" pitchFamily="34" charset="-122"/>
                <a:cs typeface="Manrope Bold" pitchFamily="34" charset="-120"/>
              </a:rPr>
              <a:t>Real-Time &amp; Low Latency</a:t>
            </a:r>
            <a:r>
              <a:rPr lang="en-US" sz="1250" dirty="0">
                <a:solidFill>
                  <a:srgbClr val="5B6E8C"/>
                </a:solidFill>
                <a:latin typeface="Manrope" pitchFamily="34" charset="0"/>
                <a:ea typeface="Manrope" pitchFamily="34" charset="-122"/>
                <a:cs typeface="Manrope" pitchFamily="34" charset="-120"/>
              </a:rPr>
              <a:t> — On-device inference eliminates cloud round-trip.</a:t>
            </a:r>
            <a:endParaRPr lang="en-US" sz="12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699" y="3635028"/>
            <a:ext cx="240996" cy="241002"/>
          </a:xfrm>
          <a:prstGeom prst="rect">
            <a:avLst/>
          </a:prstGeom>
        </p:spPr>
      </p:pic>
      <p:sp>
        <p:nvSpPr>
          <p:cNvPr id="9" name="Text 4"/>
          <p:cNvSpPr/>
          <p:nvPr/>
        </p:nvSpPr>
        <p:spPr>
          <a:xfrm>
            <a:off x="1183551" y="3627140"/>
            <a:ext cx="4716345" cy="475456"/>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5B6E8C"/>
                </a:solidFill>
                <a:latin typeface="Manrope Bold" pitchFamily="34" charset="0"/>
                <a:ea typeface="Manrope Bold" pitchFamily="34" charset="-122"/>
                <a:cs typeface="Manrope Bold" pitchFamily="34" charset="-120"/>
              </a:rPr>
              <a:t>Portable &amp; Energy Efficient</a:t>
            </a:r>
            <a:r>
              <a:rPr lang="en-US" sz="1250" dirty="0">
                <a:solidFill>
                  <a:srgbClr val="5B6E8C"/>
                </a:solidFill>
                <a:latin typeface="Manrope" pitchFamily="34" charset="0"/>
                <a:ea typeface="Manrope" pitchFamily="34" charset="-122"/>
                <a:cs typeface="Manrope" pitchFamily="34" charset="-120"/>
              </a:rPr>
              <a:t> — Compact form factor, minimal power draw.</a:t>
            </a:r>
            <a:endParaRPr lang="en-US" sz="12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699" y="4398020"/>
            <a:ext cx="240996" cy="241002"/>
          </a:xfrm>
          <a:prstGeom prst="rect">
            <a:avLst/>
          </a:prstGeom>
        </p:spPr>
      </p:pic>
      <p:sp>
        <p:nvSpPr>
          <p:cNvPr id="11" name="Text 5"/>
          <p:cNvSpPr/>
          <p:nvPr/>
        </p:nvSpPr>
        <p:spPr>
          <a:xfrm>
            <a:off x="1183551" y="4390132"/>
            <a:ext cx="4716345" cy="237728"/>
          </a:xfrm>
          <a:prstGeom prst="rect">
            <a:avLst/>
          </a:prstGeom>
          <a:noFill/>
          <a:ln/>
        </p:spPr>
        <p:txBody>
          <a:bodyPr wrap="none" lIns="0" tIns="0" rIns="0" bIns="0" rtlCol="0" anchor="t"/>
          <a:lstStyle/>
          <a:p>
            <a:pPr marL="0" indent="0" algn="l">
              <a:lnSpc>
                <a:spcPct val="123000"/>
              </a:lnSpc>
              <a:buNone/>
            </a:pPr>
            <a:r>
              <a:rPr lang="en-US" sz="1250" b="1" dirty="0">
                <a:solidFill>
                  <a:srgbClr val="5B6E8C"/>
                </a:solidFill>
                <a:latin typeface="Manrope Bold" pitchFamily="34" charset="0"/>
                <a:ea typeface="Manrope Bold" pitchFamily="34" charset="-122"/>
                <a:cs typeface="Manrope Bold" pitchFamily="34" charset="-120"/>
              </a:rPr>
              <a:t>Scalable</a:t>
            </a:r>
            <a:r>
              <a:rPr lang="en-US" sz="1250" dirty="0">
                <a:solidFill>
                  <a:srgbClr val="5B6E8C"/>
                </a:solidFill>
                <a:latin typeface="Manrope" pitchFamily="34" charset="0"/>
                <a:ea typeface="Manrope" pitchFamily="34" charset="-122"/>
                <a:cs typeface="Manrope" pitchFamily="34" charset="-120"/>
              </a:rPr>
              <a:t> — Easily deployable across multiple nodes.</a:t>
            </a:r>
            <a:endParaRPr lang="en-US" sz="1250" dirty="0"/>
          </a:p>
        </p:txBody>
      </p:sp>
      <p:sp>
        <p:nvSpPr>
          <p:cNvPr id="12" name="Text 6"/>
          <p:cNvSpPr/>
          <p:nvPr/>
        </p:nvSpPr>
        <p:spPr>
          <a:xfrm>
            <a:off x="6298149" y="1696541"/>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5B6E8C"/>
                </a:solidFill>
                <a:latin typeface="Alexandria Medium" pitchFamily="34" charset="0"/>
                <a:ea typeface="Alexandria Medium" pitchFamily="34" charset="-122"/>
                <a:cs typeface="Alexandria Medium" pitchFamily="34" charset="-120"/>
              </a:rPr>
              <a:t>Future Enhancements</a:t>
            </a:r>
            <a:endParaRPr lang="en-US" sz="1550" dirty="0"/>
          </a:p>
        </p:txBody>
      </p:sp>
      <p:sp>
        <p:nvSpPr>
          <p:cNvPr id="13" name="Shape 7"/>
          <p:cNvSpPr/>
          <p:nvPr/>
        </p:nvSpPr>
        <p:spPr>
          <a:xfrm>
            <a:off x="6298149" y="2101155"/>
            <a:ext cx="2550949" cy="1447998"/>
          </a:xfrm>
          <a:prstGeom prst="roundRect">
            <a:avLst>
              <a:gd name="adj" fmla="val 16644"/>
            </a:avLst>
          </a:prstGeom>
          <a:solidFill>
            <a:srgbClr val="E6F7FF"/>
          </a:solidFill>
          <a:ln w="6350">
            <a:solidFill>
              <a:srgbClr val="B3D5E4"/>
            </a:solidFill>
            <a:prstDash val="solid"/>
          </a:ln>
        </p:spPr>
      </p:sp>
      <p:sp>
        <p:nvSpPr>
          <p:cNvPr id="14" name="Text 8"/>
          <p:cNvSpPr/>
          <p:nvPr/>
        </p:nvSpPr>
        <p:spPr>
          <a:xfrm>
            <a:off x="6465130" y="2268141"/>
            <a:ext cx="2216988" cy="25102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Alexandria Medium" pitchFamily="34" charset="0"/>
                <a:ea typeface="Alexandria Medium" pitchFamily="34" charset="-122"/>
                <a:cs typeface="Alexandria Medium" pitchFamily="34" charset="-120"/>
              </a:rPr>
              <a:t>Face &amp; ANPR</a:t>
            </a:r>
            <a:endParaRPr lang="en-US" sz="1550" dirty="0"/>
          </a:p>
        </p:txBody>
      </p:sp>
      <p:sp>
        <p:nvSpPr>
          <p:cNvPr id="15" name="Text 9"/>
          <p:cNvSpPr/>
          <p:nvPr/>
        </p:nvSpPr>
        <p:spPr>
          <a:xfrm>
            <a:off x="6465130" y="2655689"/>
            <a:ext cx="2216988"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Manrope" pitchFamily="34" charset="0"/>
                <a:ea typeface="Manrope" pitchFamily="34" charset="-122"/>
                <a:cs typeface="Manrope" pitchFamily="34" charset="-120"/>
              </a:rPr>
              <a:t>Identity and license plate recognition.</a:t>
            </a:r>
            <a:endParaRPr lang="en-US" sz="1250" dirty="0"/>
          </a:p>
        </p:txBody>
      </p:sp>
      <p:sp>
        <p:nvSpPr>
          <p:cNvPr id="16" name="Shape 10"/>
          <p:cNvSpPr/>
          <p:nvPr/>
        </p:nvSpPr>
        <p:spPr>
          <a:xfrm>
            <a:off x="8985621" y="2101155"/>
            <a:ext cx="2550949" cy="1447998"/>
          </a:xfrm>
          <a:prstGeom prst="roundRect">
            <a:avLst>
              <a:gd name="adj" fmla="val 16644"/>
            </a:avLst>
          </a:prstGeom>
          <a:solidFill>
            <a:srgbClr val="E6F7FF"/>
          </a:solidFill>
          <a:ln w="6350">
            <a:solidFill>
              <a:srgbClr val="B3D5E4"/>
            </a:solidFill>
            <a:prstDash val="solid"/>
          </a:ln>
        </p:spPr>
      </p:sp>
      <p:sp>
        <p:nvSpPr>
          <p:cNvPr id="17" name="Text 11"/>
          <p:cNvSpPr/>
          <p:nvPr/>
        </p:nvSpPr>
        <p:spPr>
          <a:xfrm>
            <a:off x="9152601" y="2268141"/>
            <a:ext cx="2216988" cy="502047"/>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000000"/>
                </a:solidFill>
                <a:latin typeface="Alexandria Medium" pitchFamily="34" charset="0"/>
                <a:ea typeface="Alexandria Medium" pitchFamily="34" charset="-122"/>
                <a:cs typeface="Alexandria Medium" pitchFamily="34" charset="-120"/>
              </a:rPr>
              <a:t>Fire &amp; Smoke Detection</a:t>
            </a:r>
            <a:endParaRPr lang="en-US" sz="1550" dirty="0"/>
          </a:p>
        </p:txBody>
      </p:sp>
      <p:sp>
        <p:nvSpPr>
          <p:cNvPr id="18" name="Text 12"/>
          <p:cNvSpPr/>
          <p:nvPr/>
        </p:nvSpPr>
        <p:spPr>
          <a:xfrm>
            <a:off x="9152601" y="2906713"/>
            <a:ext cx="2216988"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Manrope" pitchFamily="34" charset="0"/>
                <a:ea typeface="Manrope" pitchFamily="34" charset="-122"/>
                <a:cs typeface="Manrope" pitchFamily="34" charset="-120"/>
              </a:rPr>
              <a:t>Early hazard identification for safety systems.</a:t>
            </a:r>
            <a:endParaRPr lang="en-US" sz="1250" dirty="0"/>
          </a:p>
        </p:txBody>
      </p:sp>
      <p:sp>
        <p:nvSpPr>
          <p:cNvPr id="19" name="Shape 13"/>
          <p:cNvSpPr/>
          <p:nvPr/>
        </p:nvSpPr>
        <p:spPr>
          <a:xfrm>
            <a:off x="6298149" y="3685679"/>
            <a:ext cx="2550949" cy="1196975"/>
          </a:xfrm>
          <a:prstGeom prst="roundRect">
            <a:avLst>
              <a:gd name="adj" fmla="val 20134"/>
            </a:avLst>
          </a:prstGeom>
          <a:solidFill>
            <a:srgbClr val="E6F7FF"/>
          </a:solidFill>
          <a:ln w="6350">
            <a:solidFill>
              <a:srgbClr val="B3D5E4"/>
            </a:solidFill>
            <a:prstDash val="solid"/>
          </a:ln>
        </p:spPr>
      </p:sp>
      <p:sp>
        <p:nvSpPr>
          <p:cNvPr id="20" name="Text 14"/>
          <p:cNvSpPr/>
          <p:nvPr/>
        </p:nvSpPr>
        <p:spPr>
          <a:xfrm>
            <a:off x="6465130" y="3852664"/>
            <a:ext cx="2216988" cy="25102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Alexandria Medium" pitchFamily="34" charset="0"/>
                <a:ea typeface="Alexandria Medium" pitchFamily="34" charset="-122"/>
                <a:cs typeface="Alexandria Medium" pitchFamily="34" charset="-120"/>
              </a:rPr>
              <a:t>Gesture Recognition</a:t>
            </a:r>
            <a:endParaRPr lang="en-US" sz="1550" dirty="0"/>
          </a:p>
        </p:txBody>
      </p:sp>
      <p:sp>
        <p:nvSpPr>
          <p:cNvPr id="21" name="Text 15"/>
          <p:cNvSpPr/>
          <p:nvPr/>
        </p:nvSpPr>
        <p:spPr>
          <a:xfrm>
            <a:off x="6465130" y="4240213"/>
            <a:ext cx="2216988"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Manrope" pitchFamily="34" charset="0"/>
                <a:ea typeface="Manrope" pitchFamily="34" charset="-122"/>
                <a:cs typeface="Manrope" pitchFamily="34" charset="-120"/>
              </a:rPr>
              <a:t>Human-computer interaction via hand gestures.</a:t>
            </a:r>
            <a:endParaRPr lang="en-US" sz="1250" dirty="0"/>
          </a:p>
        </p:txBody>
      </p:sp>
      <p:sp>
        <p:nvSpPr>
          <p:cNvPr id="22" name="Shape 16"/>
          <p:cNvSpPr/>
          <p:nvPr/>
        </p:nvSpPr>
        <p:spPr>
          <a:xfrm>
            <a:off x="8985621" y="3685679"/>
            <a:ext cx="2550949" cy="1196975"/>
          </a:xfrm>
          <a:prstGeom prst="roundRect">
            <a:avLst>
              <a:gd name="adj" fmla="val 20134"/>
            </a:avLst>
          </a:prstGeom>
          <a:solidFill>
            <a:srgbClr val="E6F7FF"/>
          </a:solidFill>
          <a:ln w="6350">
            <a:solidFill>
              <a:srgbClr val="B3D5E4"/>
            </a:solidFill>
            <a:prstDash val="solid"/>
          </a:ln>
        </p:spPr>
      </p:sp>
      <p:sp>
        <p:nvSpPr>
          <p:cNvPr id="23" name="Text 17"/>
          <p:cNvSpPr/>
          <p:nvPr/>
        </p:nvSpPr>
        <p:spPr>
          <a:xfrm>
            <a:off x="9152601" y="3852664"/>
            <a:ext cx="2216988" cy="25102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Alexandria Medium" pitchFamily="34" charset="0"/>
                <a:ea typeface="Alexandria Medium" pitchFamily="34" charset="-122"/>
                <a:cs typeface="Alexandria Medium" pitchFamily="34" charset="-120"/>
              </a:rPr>
              <a:t>Advanced Cloud AI</a:t>
            </a:r>
            <a:endParaRPr lang="en-US" sz="1550" dirty="0"/>
          </a:p>
        </p:txBody>
      </p:sp>
      <p:sp>
        <p:nvSpPr>
          <p:cNvPr id="24" name="Text 18"/>
          <p:cNvSpPr/>
          <p:nvPr/>
        </p:nvSpPr>
        <p:spPr>
          <a:xfrm>
            <a:off x="9152601" y="4240213"/>
            <a:ext cx="2216988"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Manrope" pitchFamily="34" charset="0"/>
                <a:ea typeface="Manrope" pitchFamily="34" charset="-122"/>
                <a:cs typeface="Manrope" pitchFamily="34" charset="-120"/>
              </a:rPr>
              <a:t>Deeper analytics and historical trend modeling.</a:t>
            </a:r>
            <a:endParaRPr lang="en-US" sz="1250" dirty="0"/>
          </a:p>
        </p:txBody>
      </p:sp>
      <p:sp>
        <p:nvSpPr>
          <p:cNvPr id="25" name="Shape 19"/>
          <p:cNvSpPr/>
          <p:nvPr/>
        </p:nvSpPr>
        <p:spPr>
          <a:xfrm>
            <a:off x="661475" y="5189835"/>
            <a:ext cx="10868745" cy="814983"/>
          </a:xfrm>
          <a:prstGeom prst="roundRect">
            <a:avLst>
              <a:gd name="adj" fmla="val 29571"/>
            </a:avLst>
          </a:prstGeom>
          <a:solidFill>
            <a:srgbClr val="CDEFFE"/>
          </a:solidFill>
          <a:ln/>
        </p:spPr>
      </p:sp>
      <p:pic>
        <p:nvPicPr>
          <p:cNvPr id="26" name="Image 4" descr="preencoded.png"/>
          <p:cNvPicPr>
            <a:picLocks noChangeAspect="1"/>
          </p:cNvPicPr>
          <p:nvPr/>
        </p:nvPicPr>
        <p:blipFill>
          <a:blip r:embed="rId4"/>
          <a:stretch>
            <a:fillRect/>
          </a:stretch>
        </p:blipFill>
        <p:spPr>
          <a:xfrm>
            <a:off x="822106" y="5408712"/>
            <a:ext cx="200814" cy="160635"/>
          </a:xfrm>
          <a:prstGeom prst="rect">
            <a:avLst/>
          </a:prstGeom>
        </p:spPr>
      </p:pic>
      <p:sp>
        <p:nvSpPr>
          <p:cNvPr id="27" name="Text 20"/>
          <p:cNvSpPr/>
          <p:nvPr/>
        </p:nvSpPr>
        <p:spPr>
          <a:xfrm>
            <a:off x="1183551" y="5366445"/>
            <a:ext cx="10186038" cy="475456"/>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000000"/>
                </a:solidFill>
                <a:latin typeface="Manrope Bold" pitchFamily="34" charset="0"/>
                <a:ea typeface="Manrope Bold" pitchFamily="34" charset="-122"/>
                <a:cs typeface="Manrope Bold" pitchFamily="34" charset="-120"/>
              </a:rPr>
              <a:t>Conclusion:</a:t>
            </a:r>
            <a:r>
              <a:rPr lang="en-US" sz="1250" dirty="0">
                <a:solidFill>
                  <a:srgbClr val="000000"/>
                </a:solidFill>
                <a:latin typeface="Manrope" pitchFamily="34" charset="0"/>
                <a:ea typeface="Manrope" pitchFamily="34" charset="-122"/>
                <a:cs typeface="Manrope" pitchFamily="34" charset="-120"/>
              </a:rPr>
              <a:t> This project demonstrates a complete, deployable edge-AI pipeline — integrating Raspberry Pi, OpenCV, YOLOv8, and IoT cloud — delivering real-time, intelligent object detection with clear practical applications and a strong roadmap for future expansion.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897</Words>
  <Application>Microsoft Office PowerPoint</Application>
  <PresentationFormat>Widescreen</PresentationFormat>
  <Paragraphs>145</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Manrope</vt:lpstr>
      <vt:lpstr>Manrope Bold</vt:lpstr>
      <vt:lpstr>Bookman Old Style</vt:lpstr>
      <vt:lpstr>Alexandria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Gaurav sai</cp:lastModifiedBy>
  <cp:revision>4</cp:revision>
  <dcterms:created xsi:type="dcterms:W3CDTF">2026-08-02T01:52:25Z</dcterms:created>
  <dcterms:modified xsi:type="dcterms:W3CDTF">2026-09-30T10:03:42Z</dcterms:modified>
</cp:coreProperties>
</file>